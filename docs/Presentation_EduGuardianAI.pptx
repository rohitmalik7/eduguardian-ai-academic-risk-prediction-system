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2" r:id="rId15"/>
    <p:sldId id="269" r:id="rId16"/>
    <p:sldId id="271" r:id="rId17"/>
    <p:sldId id="272" r:id="rId18"/>
    <p:sldId id="273" r:id="rId19"/>
    <p:sldId id="270" r:id="rId20"/>
    <p:sldId id="281" r:id="rId21"/>
    <p:sldId id="284" r:id="rId22"/>
    <p:sldId id="274" r:id="rId23"/>
    <p:sldId id="275" r:id="rId24"/>
    <p:sldId id="276" r:id="rId25"/>
    <p:sldId id="283" r:id="rId26"/>
    <p:sldId id="277" r:id="rId27"/>
    <p:sldId id="278" r:id="rId28"/>
    <p:sldId id="279" r:id="rId29"/>
    <p:sldId id="280" r:id="rId30"/>
  </p:sldIdLst>
  <p:sldSz cx="18288000" cy="10287000"/>
  <p:notesSz cx="6858000" cy="9144000"/>
  <p:embeddedFontLst>
    <p:embeddedFont>
      <p:font typeface="Aileron" panose="020B0604020202020204" charset="0"/>
      <p:regular r:id="rId31"/>
    </p:embeddedFont>
    <p:embeddedFont>
      <p:font typeface="Aileron Bold" panose="020B0604020202020204" charset="0"/>
      <p:regular r:id="rId32"/>
    </p:embeddedFont>
    <p:embeddedFont>
      <p:font typeface="Open Sauce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EFBB47-A68D-4A7F-ADBE-CBB28E1C2006}" v="9" dt="2026-04-03T12:51:14.7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437"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zaan Shumaiz" userId="fad08427e0426624" providerId="LiveId" clId="{AF0D1DA8-D75B-481C-B2E0-7E898B05F573}"/>
    <pc:docChg chg="undo custSel addSld delSld modSld sldOrd">
      <pc:chgData name="Izaan Shumaiz" userId="fad08427e0426624" providerId="LiveId" clId="{AF0D1DA8-D75B-481C-B2E0-7E898B05F573}" dt="2026-04-03T12:51:14.717" v="124"/>
      <pc:docMkLst>
        <pc:docMk/>
      </pc:docMkLst>
      <pc:sldChg chg="modSp mod">
        <pc:chgData name="Izaan Shumaiz" userId="fad08427e0426624" providerId="LiveId" clId="{AF0D1DA8-D75B-481C-B2E0-7E898B05F573}" dt="2026-04-03T10:52:02" v="5" actId="20577"/>
        <pc:sldMkLst>
          <pc:docMk/>
          <pc:sldMk cId="0" sldId="256"/>
        </pc:sldMkLst>
        <pc:spChg chg="mod">
          <ac:chgData name="Izaan Shumaiz" userId="fad08427e0426624" providerId="LiveId" clId="{AF0D1DA8-D75B-481C-B2E0-7E898B05F573}" dt="2026-04-03T10:52:02" v="5" actId="20577"/>
          <ac:spMkLst>
            <pc:docMk/>
            <pc:sldMk cId="0" sldId="256"/>
            <ac:spMk id="14" creationId="{00000000-0000-0000-0000-000000000000}"/>
          </ac:spMkLst>
        </pc:spChg>
      </pc:sldChg>
      <pc:sldChg chg="modSp mod">
        <pc:chgData name="Izaan Shumaiz" userId="fad08427e0426624" providerId="LiveId" clId="{AF0D1DA8-D75B-481C-B2E0-7E898B05F573}" dt="2026-04-03T12:50:28.151" v="121" actId="14100"/>
        <pc:sldMkLst>
          <pc:docMk/>
          <pc:sldMk cId="0" sldId="258"/>
        </pc:sldMkLst>
        <pc:spChg chg="mod">
          <ac:chgData name="Izaan Shumaiz" userId="fad08427e0426624" providerId="LiveId" clId="{AF0D1DA8-D75B-481C-B2E0-7E898B05F573}" dt="2026-04-03T12:50:28.151" v="121" actId="14100"/>
          <ac:spMkLst>
            <pc:docMk/>
            <pc:sldMk cId="0" sldId="258"/>
            <ac:spMk id="11" creationId="{00000000-0000-0000-0000-000000000000}"/>
          </ac:spMkLst>
        </pc:spChg>
      </pc:sldChg>
      <pc:sldChg chg="addSp delSp mod">
        <pc:chgData name="Izaan Shumaiz" userId="fad08427e0426624" providerId="LiveId" clId="{AF0D1DA8-D75B-481C-B2E0-7E898B05F573}" dt="2026-04-03T12:51:14.717" v="124"/>
        <pc:sldMkLst>
          <pc:docMk/>
          <pc:sldMk cId="0" sldId="266"/>
        </pc:sldMkLst>
        <pc:spChg chg="del">
          <ac:chgData name="Izaan Shumaiz" userId="fad08427e0426624" providerId="LiveId" clId="{AF0D1DA8-D75B-481C-B2E0-7E898B05F573}" dt="2026-04-03T12:51:11.547" v="122" actId="478"/>
          <ac:spMkLst>
            <pc:docMk/>
            <pc:sldMk cId="0" sldId="266"/>
            <ac:spMk id="7" creationId="{00000000-0000-0000-0000-000000000000}"/>
          </ac:spMkLst>
        </pc:spChg>
        <pc:spChg chg="add">
          <ac:chgData name="Izaan Shumaiz" userId="fad08427e0426624" providerId="LiveId" clId="{AF0D1DA8-D75B-481C-B2E0-7E898B05F573}" dt="2026-04-03T12:51:11.788" v="123"/>
          <ac:spMkLst>
            <pc:docMk/>
            <pc:sldMk cId="0" sldId="266"/>
            <ac:spMk id="8" creationId="{E5F570A1-D96C-B7FB-FC7A-89E9B8E05818}"/>
          </ac:spMkLst>
        </pc:spChg>
        <pc:picChg chg="add">
          <ac:chgData name="Izaan Shumaiz" userId="fad08427e0426624" providerId="LiveId" clId="{AF0D1DA8-D75B-481C-B2E0-7E898B05F573}" dt="2026-04-03T12:51:14.717" v="124"/>
          <ac:picMkLst>
            <pc:docMk/>
            <pc:sldMk cId="0" sldId="266"/>
            <ac:picMk id="9" creationId="{329CA710-4423-10C2-20ED-6659A15E45CA}"/>
          </ac:picMkLst>
        </pc:picChg>
      </pc:sldChg>
      <pc:sldChg chg="addSp delSp modSp mod ord">
        <pc:chgData name="Izaan Shumaiz" userId="fad08427e0426624" providerId="LiveId" clId="{AF0D1DA8-D75B-481C-B2E0-7E898B05F573}" dt="2026-04-03T11:56:52.431" v="113"/>
        <pc:sldMkLst>
          <pc:docMk/>
          <pc:sldMk cId="0" sldId="270"/>
        </pc:sldMkLst>
        <pc:spChg chg="mod">
          <ac:chgData name="Izaan Shumaiz" userId="fad08427e0426624" providerId="LiveId" clId="{AF0D1DA8-D75B-481C-B2E0-7E898B05F573}" dt="2026-04-03T10:58:24.877" v="23" actId="1076"/>
          <ac:spMkLst>
            <pc:docMk/>
            <pc:sldMk cId="0" sldId="270"/>
            <ac:spMk id="7" creationId="{00000000-0000-0000-0000-000000000000}"/>
          </ac:spMkLst>
        </pc:spChg>
        <pc:picChg chg="add del mod">
          <ac:chgData name="Izaan Shumaiz" userId="fad08427e0426624" providerId="LiveId" clId="{AF0D1DA8-D75B-481C-B2E0-7E898B05F573}" dt="2026-04-03T10:58:12.805" v="21" actId="478"/>
          <ac:picMkLst>
            <pc:docMk/>
            <pc:sldMk cId="0" sldId="270"/>
            <ac:picMk id="9" creationId="{882F4247-E382-7FBE-8CF5-F58059D34AA6}"/>
          </ac:picMkLst>
        </pc:picChg>
      </pc:sldChg>
      <pc:sldChg chg="addSp delSp modSp mod ord">
        <pc:chgData name="Izaan Shumaiz" userId="fad08427e0426624" providerId="LiveId" clId="{AF0D1DA8-D75B-481C-B2E0-7E898B05F573}" dt="2026-04-03T11:56:32.754" v="107" actId="1076"/>
        <pc:sldMkLst>
          <pc:docMk/>
          <pc:sldMk cId="0" sldId="274"/>
        </pc:sldMkLst>
        <pc:spChg chg="del">
          <ac:chgData name="Izaan Shumaiz" userId="fad08427e0426624" providerId="LiveId" clId="{AF0D1DA8-D75B-481C-B2E0-7E898B05F573}" dt="2026-04-03T11:53:41.661" v="55" actId="478"/>
          <ac:spMkLst>
            <pc:docMk/>
            <pc:sldMk cId="0" sldId="274"/>
            <ac:spMk id="6" creationId="{00000000-0000-0000-0000-000000000000}"/>
          </ac:spMkLst>
        </pc:spChg>
        <pc:spChg chg="del">
          <ac:chgData name="Izaan Shumaiz" userId="fad08427e0426624" providerId="LiveId" clId="{AF0D1DA8-D75B-481C-B2E0-7E898B05F573}" dt="2026-04-03T11:53:45.924" v="57" actId="478"/>
          <ac:spMkLst>
            <pc:docMk/>
            <pc:sldMk cId="0" sldId="274"/>
            <ac:spMk id="7" creationId="{00000000-0000-0000-0000-000000000000}"/>
          </ac:spMkLst>
        </pc:spChg>
        <pc:spChg chg="del">
          <ac:chgData name="Izaan Shumaiz" userId="fad08427e0426624" providerId="LiveId" clId="{AF0D1DA8-D75B-481C-B2E0-7E898B05F573}" dt="2026-04-03T11:53:44.251" v="56" actId="478"/>
          <ac:spMkLst>
            <pc:docMk/>
            <pc:sldMk cId="0" sldId="274"/>
            <ac:spMk id="9" creationId="{00000000-0000-0000-0000-000000000000}"/>
          </ac:spMkLst>
        </pc:spChg>
        <pc:picChg chg="add del mod">
          <ac:chgData name="Izaan Shumaiz" userId="fad08427e0426624" providerId="LiveId" clId="{AF0D1DA8-D75B-481C-B2E0-7E898B05F573}" dt="2026-04-03T11:54:16.695" v="67" actId="478"/>
          <ac:picMkLst>
            <pc:docMk/>
            <pc:sldMk cId="0" sldId="274"/>
            <ac:picMk id="11" creationId="{97053255-E23D-C2BA-7CA5-745142C063CB}"/>
          </ac:picMkLst>
        </pc:picChg>
        <pc:picChg chg="add del">
          <ac:chgData name="Izaan Shumaiz" userId="fad08427e0426624" providerId="LiveId" clId="{AF0D1DA8-D75B-481C-B2E0-7E898B05F573}" dt="2026-04-03T11:54:35.329" v="73" actId="478"/>
          <ac:picMkLst>
            <pc:docMk/>
            <pc:sldMk cId="0" sldId="274"/>
            <ac:picMk id="13" creationId="{91470716-6435-6EF8-52B8-96E337F85B1C}"/>
          </ac:picMkLst>
        </pc:picChg>
        <pc:picChg chg="add del mod">
          <ac:chgData name="Izaan Shumaiz" userId="fad08427e0426624" providerId="LiveId" clId="{AF0D1DA8-D75B-481C-B2E0-7E898B05F573}" dt="2026-04-03T11:55:49.622" v="85" actId="478"/>
          <ac:picMkLst>
            <pc:docMk/>
            <pc:sldMk cId="0" sldId="274"/>
            <ac:picMk id="15" creationId="{3DE8E11A-8A18-BA5E-CC28-B6881A451FAE}"/>
          </ac:picMkLst>
        </pc:picChg>
        <pc:picChg chg="add mod">
          <ac:chgData name="Izaan Shumaiz" userId="fad08427e0426624" providerId="LiveId" clId="{AF0D1DA8-D75B-481C-B2E0-7E898B05F573}" dt="2026-04-03T11:56:32.754" v="107" actId="1076"/>
          <ac:picMkLst>
            <pc:docMk/>
            <pc:sldMk cId="0" sldId="274"/>
            <ac:picMk id="17" creationId="{45C3F99B-BB00-E78F-2E11-35E8421B9BB8}"/>
          </ac:picMkLst>
        </pc:picChg>
      </pc:sldChg>
      <pc:sldChg chg="addSp delSp modSp add mod ord setBg">
        <pc:chgData name="Izaan Shumaiz" userId="fad08427e0426624" providerId="LiveId" clId="{AF0D1DA8-D75B-481C-B2E0-7E898B05F573}" dt="2026-04-03T11:56:48.314" v="111"/>
        <pc:sldMkLst>
          <pc:docMk/>
          <pc:sldMk cId="3605055954" sldId="281"/>
        </pc:sldMkLst>
        <pc:spChg chg="del">
          <ac:chgData name="Izaan Shumaiz" userId="fad08427e0426624" providerId="LiveId" clId="{AF0D1DA8-D75B-481C-B2E0-7E898B05F573}" dt="2026-04-03T10:58:26.611" v="24" actId="478"/>
          <ac:spMkLst>
            <pc:docMk/>
            <pc:sldMk cId="3605055954" sldId="281"/>
            <ac:spMk id="7" creationId="{92766EF4-B748-75FD-99E2-276329B4788D}"/>
          </ac:spMkLst>
        </pc:spChg>
        <pc:grpChg chg="mod">
          <ac:chgData name="Izaan Shumaiz" userId="fad08427e0426624" providerId="LiveId" clId="{AF0D1DA8-D75B-481C-B2E0-7E898B05F573}" dt="2026-04-03T10:58:39.141" v="27" actId="1076"/>
          <ac:grpSpMkLst>
            <pc:docMk/>
            <pc:sldMk cId="3605055954" sldId="281"/>
            <ac:grpSpMk id="3" creationId="{DE233DA3-E44D-3218-1E79-5AE0646E539B}"/>
          </ac:grpSpMkLst>
        </pc:grpChg>
        <pc:picChg chg="add mod">
          <ac:chgData name="Izaan Shumaiz" userId="fad08427e0426624" providerId="LiveId" clId="{AF0D1DA8-D75B-481C-B2E0-7E898B05F573}" dt="2026-04-03T11:50:03.872" v="38" actId="1076"/>
          <ac:picMkLst>
            <pc:docMk/>
            <pc:sldMk cId="3605055954" sldId="281"/>
            <ac:picMk id="8" creationId="{B8837373-71EA-F170-2022-8C4F5F471DF4}"/>
          </ac:picMkLst>
        </pc:picChg>
        <pc:picChg chg="mod">
          <ac:chgData name="Izaan Shumaiz" userId="fad08427e0426624" providerId="LiveId" clId="{AF0D1DA8-D75B-481C-B2E0-7E898B05F573}" dt="2026-04-03T11:50:01.821" v="37" actId="1076"/>
          <ac:picMkLst>
            <pc:docMk/>
            <pc:sldMk cId="3605055954" sldId="281"/>
            <ac:picMk id="9" creationId="{ACFAFE11-5328-B5C2-1564-8EEDD2E7400D}"/>
          </ac:picMkLst>
        </pc:picChg>
      </pc:sldChg>
      <pc:sldChg chg="addSp delSp add mod">
        <pc:chgData name="Izaan Shumaiz" userId="fad08427e0426624" providerId="LiveId" clId="{AF0D1DA8-D75B-481C-B2E0-7E898B05F573}" dt="2026-04-03T11:47:54.443" v="31" actId="22"/>
        <pc:sldMkLst>
          <pc:docMk/>
          <pc:sldMk cId="3057427564" sldId="282"/>
        </pc:sldMkLst>
        <pc:spChg chg="del">
          <ac:chgData name="Izaan Shumaiz" userId="fad08427e0426624" providerId="LiveId" clId="{AF0D1DA8-D75B-481C-B2E0-7E898B05F573}" dt="2026-04-03T11:47:52.487" v="29" actId="478"/>
          <ac:spMkLst>
            <pc:docMk/>
            <pc:sldMk cId="3057427564" sldId="282"/>
            <ac:spMk id="10" creationId="{B650AD5A-C358-5950-E5DE-4A7DB9EE8E73}"/>
          </ac:spMkLst>
        </pc:spChg>
        <pc:spChg chg="del">
          <ac:chgData name="Izaan Shumaiz" userId="fad08427e0426624" providerId="LiveId" clId="{AF0D1DA8-D75B-481C-B2E0-7E898B05F573}" dt="2026-04-03T11:47:53.980" v="30" actId="478"/>
          <ac:spMkLst>
            <pc:docMk/>
            <pc:sldMk cId="3057427564" sldId="282"/>
            <ac:spMk id="11" creationId="{7232CF70-0258-01E4-2AC0-E7EA8F5548CA}"/>
          </ac:spMkLst>
        </pc:spChg>
        <pc:picChg chg="add">
          <ac:chgData name="Izaan Shumaiz" userId="fad08427e0426624" providerId="LiveId" clId="{AF0D1DA8-D75B-481C-B2E0-7E898B05F573}" dt="2026-04-03T11:47:54.443" v="31" actId="22"/>
          <ac:picMkLst>
            <pc:docMk/>
            <pc:sldMk cId="3057427564" sldId="282"/>
            <ac:picMk id="13" creationId="{916685AB-C99E-9510-32D8-F78BD838438A}"/>
          </ac:picMkLst>
        </pc:picChg>
      </pc:sldChg>
      <pc:sldChg chg="addSp delSp modSp add mod">
        <pc:chgData name="Izaan Shumaiz" userId="fad08427e0426624" providerId="LiveId" clId="{AF0D1DA8-D75B-481C-B2E0-7E898B05F573}" dt="2026-04-03T11:52:44.174" v="53" actId="1076"/>
        <pc:sldMkLst>
          <pc:docMk/>
          <pc:sldMk cId="1379983595" sldId="283"/>
        </pc:sldMkLst>
        <pc:spChg chg="del">
          <ac:chgData name="Izaan Shumaiz" userId="fad08427e0426624" providerId="LiveId" clId="{AF0D1DA8-D75B-481C-B2E0-7E898B05F573}" dt="2026-04-03T11:50:48.818" v="47" actId="478"/>
          <ac:spMkLst>
            <pc:docMk/>
            <pc:sldMk cId="1379983595" sldId="283"/>
            <ac:spMk id="6" creationId="{9570BA99-44D3-F0F1-1027-FC280B1F375E}"/>
          </ac:spMkLst>
        </pc:spChg>
        <pc:spChg chg="del">
          <ac:chgData name="Izaan Shumaiz" userId="fad08427e0426624" providerId="LiveId" clId="{AF0D1DA8-D75B-481C-B2E0-7E898B05F573}" dt="2026-04-03T11:50:43.339" v="44" actId="478"/>
          <ac:spMkLst>
            <pc:docMk/>
            <pc:sldMk cId="1379983595" sldId="283"/>
            <ac:spMk id="7" creationId="{A511A0D2-B632-4736-FD7A-B45D4E98C0A5}"/>
          </ac:spMkLst>
        </pc:spChg>
        <pc:spChg chg="del">
          <ac:chgData name="Izaan Shumaiz" userId="fad08427e0426624" providerId="LiveId" clId="{AF0D1DA8-D75B-481C-B2E0-7E898B05F573}" dt="2026-04-03T11:50:46.255" v="46" actId="478"/>
          <ac:spMkLst>
            <pc:docMk/>
            <pc:sldMk cId="1379983595" sldId="283"/>
            <ac:spMk id="9" creationId="{513A6B4E-CEC8-88D8-43EC-04BEFFCADC22}"/>
          </ac:spMkLst>
        </pc:spChg>
        <pc:spChg chg="del">
          <ac:chgData name="Izaan Shumaiz" userId="fad08427e0426624" providerId="LiveId" clId="{AF0D1DA8-D75B-481C-B2E0-7E898B05F573}" dt="2026-04-03T11:50:44.961" v="45" actId="478"/>
          <ac:spMkLst>
            <pc:docMk/>
            <pc:sldMk cId="1379983595" sldId="283"/>
            <ac:spMk id="10" creationId="{84B9BAAE-901B-1BC1-2DF5-4219779E41CB}"/>
          </ac:spMkLst>
        </pc:spChg>
        <pc:picChg chg="add mod">
          <ac:chgData name="Izaan Shumaiz" userId="fad08427e0426624" providerId="LiveId" clId="{AF0D1DA8-D75B-481C-B2E0-7E898B05F573}" dt="2026-04-03T11:52:44.174" v="53" actId="1076"/>
          <ac:picMkLst>
            <pc:docMk/>
            <pc:sldMk cId="1379983595" sldId="283"/>
            <ac:picMk id="11" creationId="{81109350-6F5E-5D03-673C-A895864A32FE}"/>
          </ac:picMkLst>
        </pc:picChg>
        <pc:picChg chg="add mod">
          <ac:chgData name="Izaan Shumaiz" userId="fad08427e0426624" providerId="LiveId" clId="{AF0D1DA8-D75B-481C-B2E0-7E898B05F573}" dt="2026-04-03T11:52:42.922" v="52" actId="1076"/>
          <ac:picMkLst>
            <pc:docMk/>
            <pc:sldMk cId="1379983595" sldId="283"/>
            <ac:picMk id="13" creationId="{E59ADF3A-0A6A-400E-F632-368BC46561BB}"/>
          </ac:picMkLst>
        </pc:picChg>
      </pc:sldChg>
      <pc:sldChg chg="add del setBg">
        <pc:chgData name="Izaan Shumaiz" userId="fad08427e0426624" providerId="LiveId" clId="{AF0D1DA8-D75B-481C-B2E0-7E898B05F573}" dt="2026-04-03T11:50:37.545" v="42"/>
        <pc:sldMkLst>
          <pc:docMk/>
          <pc:sldMk cId="2328684949" sldId="283"/>
        </pc:sldMkLst>
      </pc:sldChg>
      <pc:sldChg chg="add del setBg">
        <pc:chgData name="Izaan Shumaiz" userId="fad08427e0426624" providerId="LiveId" clId="{AF0D1DA8-D75B-481C-B2E0-7E898B05F573}" dt="2026-04-03T11:50:34.819" v="40"/>
        <pc:sldMkLst>
          <pc:docMk/>
          <pc:sldMk cId="2434842569" sldId="283"/>
        </pc:sldMkLst>
      </pc:sldChg>
      <pc:sldChg chg="add">
        <pc:chgData name="Izaan Shumaiz" userId="fad08427e0426624" providerId="LiveId" clId="{AF0D1DA8-D75B-481C-B2E0-7E898B05F573}" dt="2026-04-03T11:53:38.531" v="54" actId="2890"/>
        <pc:sldMkLst>
          <pc:docMk/>
          <pc:sldMk cId="544483969" sldId="284"/>
        </pc:sldMkLst>
      </pc:sldChg>
      <pc:sldChg chg="addSp delSp modSp add del mod">
        <pc:chgData name="Izaan Shumaiz" userId="fad08427e0426624" providerId="LiveId" clId="{AF0D1DA8-D75B-481C-B2E0-7E898B05F573}" dt="2026-04-03T11:57:50.996" v="120" actId="47"/>
        <pc:sldMkLst>
          <pc:docMk/>
          <pc:sldMk cId="1775829301" sldId="285"/>
        </pc:sldMkLst>
        <pc:picChg chg="del">
          <ac:chgData name="Izaan Shumaiz" userId="fad08427e0426624" providerId="LiveId" clId="{AF0D1DA8-D75B-481C-B2E0-7E898B05F573}" dt="2026-04-03T11:57:28.646" v="115" actId="478"/>
          <ac:picMkLst>
            <pc:docMk/>
            <pc:sldMk cId="1775829301" sldId="285"/>
            <ac:picMk id="8" creationId="{D037395C-9B42-4C8E-C57A-211FAC2F889F}"/>
          </ac:picMkLst>
        </pc:picChg>
        <pc:picChg chg="del">
          <ac:chgData name="Izaan Shumaiz" userId="fad08427e0426624" providerId="LiveId" clId="{AF0D1DA8-D75B-481C-B2E0-7E898B05F573}" dt="2026-04-03T11:57:29.662" v="116" actId="478"/>
          <ac:picMkLst>
            <pc:docMk/>
            <pc:sldMk cId="1775829301" sldId="285"/>
            <ac:picMk id="9" creationId="{20EB28D4-DEF2-98A1-7653-D3385AC40B67}"/>
          </ac:picMkLst>
        </pc:picChg>
        <pc:picChg chg="add mod">
          <ac:chgData name="Izaan Shumaiz" userId="fad08427e0426624" providerId="LiveId" clId="{AF0D1DA8-D75B-481C-B2E0-7E898B05F573}" dt="2026-04-03T11:57:34.062" v="119" actId="1076"/>
          <ac:picMkLst>
            <pc:docMk/>
            <pc:sldMk cId="1775829301" sldId="285"/>
            <ac:picMk id="10" creationId="{E48C0E48-51D7-AE21-DAED-8257B7FDB0AF}"/>
          </ac:picMkLst>
        </pc:picChg>
      </pc:sldChg>
      <pc:sldChg chg="add del ord">
        <pc:chgData name="Izaan Shumaiz" userId="fad08427e0426624" providerId="LiveId" clId="{AF0D1DA8-D75B-481C-B2E0-7E898B05F573}" dt="2026-04-03T11:55:28.011" v="84" actId="47"/>
        <pc:sldMkLst>
          <pc:docMk/>
          <pc:sldMk cId="2504774538" sldId="285"/>
        </pc:sldMkLst>
      </pc:sldChg>
      <pc:sldChg chg="addSp delSp modSp add del mod ord">
        <pc:chgData name="Izaan Shumaiz" userId="fad08427e0426624" providerId="LiveId" clId="{AF0D1DA8-D75B-481C-B2E0-7E898B05F573}" dt="2026-04-03T11:55:26.038" v="83" actId="47"/>
        <pc:sldMkLst>
          <pc:docMk/>
          <pc:sldMk cId="1377788468" sldId="286"/>
        </pc:sldMkLst>
        <pc:picChg chg="add mod">
          <ac:chgData name="Izaan Shumaiz" userId="fad08427e0426624" providerId="LiveId" clId="{AF0D1DA8-D75B-481C-B2E0-7E898B05F573}" dt="2026-04-03T11:54:26.261" v="72" actId="1076"/>
          <ac:picMkLst>
            <pc:docMk/>
            <pc:sldMk cId="1377788468" sldId="286"/>
            <ac:picMk id="7" creationId="{A49F3C12-9D17-0B71-76FF-180F38582D3D}"/>
          </ac:picMkLst>
        </pc:picChg>
        <pc:picChg chg="del">
          <ac:chgData name="Izaan Shumaiz" userId="fad08427e0426624" providerId="LiveId" clId="{AF0D1DA8-D75B-481C-B2E0-7E898B05F573}" dt="2026-04-03T11:54:20.338" v="69" actId="478"/>
          <ac:picMkLst>
            <pc:docMk/>
            <pc:sldMk cId="1377788468" sldId="286"/>
            <ac:picMk id="11" creationId="{1BC2A8CB-BC40-EDD0-2889-E0554650C24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sv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sp>
        <p:nvSpPr>
          <p:cNvPr id="3" name="TextBox 3"/>
          <p:cNvSpPr txBox="1"/>
          <p:nvPr/>
        </p:nvSpPr>
        <p:spPr>
          <a:xfrm>
            <a:off x="1028700" y="2886452"/>
            <a:ext cx="16230600" cy="2463514"/>
          </a:xfrm>
          <a:prstGeom prst="rect">
            <a:avLst/>
          </a:prstGeom>
        </p:spPr>
        <p:txBody>
          <a:bodyPr lIns="0" tIns="0" rIns="0" bIns="0" rtlCol="0" anchor="t">
            <a:spAutoFit/>
          </a:bodyPr>
          <a:lstStyle/>
          <a:p>
            <a:pPr marL="0" lvl="0" indent="0" algn="l">
              <a:lnSpc>
                <a:spcPts val="20140"/>
              </a:lnSpc>
              <a:spcBef>
                <a:spcPct val="0"/>
              </a:spcBef>
            </a:pPr>
            <a:r>
              <a:rPr lang="en-US" sz="14386" b="1" spc="-935">
                <a:solidFill>
                  <a:srgbClr val="F8F6F7"/>
                </a:solidFill>
                <a:latin typeface="Open Sauce Bold"/>
                <a:ea typeface="Open Sauce Bold"/>
                <a:cs typeface="Open Sauce Bold"/>
                <a:sym typeface="Open Sauce Bold"/>
              </a:rPr>
              <a:t>AI System</a:t>
            </a:r>
          </a:p>
        </p:txBody>
      </p:sp>
      <p:sp>
        <p:nvSpPr>
          <p:cNvPr id="4" name="Freeform 4"/>
          <p:cNvSpPr/>
          <p:nvPr/>
        </p:nvSpPr>
        <p:spPr>
          <a:xfrm>
            <a:off x="1315446" y="6623638"/>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5" name="AutoShape 5"/>
          <p:cNvSpPr/>
          <p:nvPr/>
        </p:nvSpPr>
        <p:spPr>
          <a:xfrm>
            <a:off x="1028700" y="7895701"/>
            <a:ext cx="16230600" cy="0"/>
          </a:xfrm>
          <a:prstGeom prst="line">
            <a:avLst/>
          </a:prstGeom>
          <a:ln w="9525" cap="flat">
            <a:solidFill>
              <a:srgbClr val="F8F6F7">
                <a:alpha val="62745"/>
              </a:srgbClr>
            </a:solidFill>
            <a:prstDash val="solid"/>
            <a:headEnd type="none" w="sm" len="sm"/>
            <a:tailEnd type="none" w="sm" len="sm"/>
          </a:ln>
        </p:spPr>
        <p:txBody>
          <a:bodyPr/>
          <a:lstStyle/>
          <a:p>
            <a:endParaRPr lang="LID4096"/>
          </a:p>
        </p:txBody>
      </p:sp>
      <p:sp>
        <p:nvSpPr>
          <p:cNvPr id="6" name="Freeform 6"/>
          <p:cNvSpPr/>
          <p:nvPr/>
        </p:nvSpPr>
        <p:spPr>
          <a:xfrm>
            <a:off x="1127117" y="955852"/>
            <a:ext cx="476640" cy="404711"/>
          </a:xfrm>
          <a:custGeom>
            <a:avLst/>
            <a:gdLst/>
            <a:ahLst/>
            <a:cxnLst/>
            <a:rect l="l" t="t" r="r" b="b"/>
            <a:pathLst>
              <a:path w="476640" h="404711">
                <a:moveTo>
                  <a:pt x="0" y="0"/>
                </a:moveTo>
                <a:lnTo>
                  <a:pt x="476641" y="0"/>
                </a:lnTo>
                <a:lnTo>
                  <a:pt x="476641" y="404711"/>
                </a:lnTo>
                <a:lnTo>
                  <a:pt x="0" y="4047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LID4096"/>
          </a:p>
        </p:txBody>
      </p:sp>
      <p:grpSp>
        <p:nvGrpSpPr>
          <p:cNvPr id="7" name="Group 7"/>
          <p:cNvGrpSpPr/>
          <p:nvPr/>
        </p:nvGrpSpPr>
        <p:grpSpPr>
          <a:xfrm>
            <a:off x="15425252" y="1015922"/>
            <a:ext cx="1834048" cy="422137"/>
            <a:chOff x="0" y="0"/>
            <a:chExt cx="483041" cy="111180"/>
          </a:xfrm>
        </p:grpSpPr>
        <p:sp>
          <p:nvSpPr>
            <p:cNvPr id="8" name="Freeform 8"/>
            <p:cNvSpPr/>
            <p:nvPr/>
          </p:nvSpPr>
          <p:spPr>
            <a:xfrm>
              <a:off x="0" y="0"/>
              <a:ext cx="483041" cy="111180"/>
            </a:xfrm>
            <a:custGeom>
              <a:avLst/>
              <a:gdLst/>
              <a:ahLst/>
              <a:cxnLst/>
              <a:rect l="l" t="t" r="r" b="b"/>
              <a:pathLst>
                <a:path w="483041" h="111180">
                  <a:moveTo>
                    <a:pt x="55590" y="0"/>
                  </a:moveTo>
                  <a:lnTo>
                    <a:pt x="427451" y="0"/>
                  </a:lnTo>
                  <a:cubicBezTo>
                    <a:pt x="442195" y="0"/>
                    <a:pt x="456334" y="5857"/>
                    <a:pt x="466759" y="16282"/>
                  </a:cubicBezTo>
                  <a:cubicBezTo>
                    <a:pt x="477185" y="26707"/>
                    <a:pt x="483041" y="40847"/>
                    <a:pt x="483041" y="55590"/>
                  </a:cubicBezTo>
                  <a:lnTo>
                    <a:pt x="483041" y="55590"/>
                  </a:lnTo>
                  <a:cubicBezTo>
                    <a:pt x="483041" y="70333"/>
                    <a:pt x="477185" y="84473"/>
                    <a:pt x="466759" y="94898"/>
                  </a:cubicBezTo>
                  <a:cubicBezTo>
                    <a:pt x="456334" y="105323"/>
                    <a:pt x="442195" y="111180"/>
                    <a:pt x="427451" y="111180"/>
                  </a:cubicBezTo>
                  <a:lnTo>
                    <a:pt x="55590" y="111180"/>
                  </a:lnTo>
                  <a:cubicBezTo>
                    <a:pt x="40847" y="111180"/>
                    <a:pt x="26707" y="105323"/>
                    <a:pt x="16282" y="94898"/>
                  </a:cubicBezTo>
                  <a:cubicBezTo>
                    <a:pt x="5857" y="84473"/>
                    <a:pt x="0" y="70333"/>
                    <a:pt x="0" y="55590"/>
                  </a:cubicBezTo>
                  <a:lnTo>
                    <a:pt x="0" y="55590"/>
                  </a:lnTo>
                  <a:cubicBezTo>
                    <a:pt x="0" y="40847"/>
                    <a:pt x="5857" y="26707"/>
                    <a:pt x="16282" y="16282"/>
                  </a:cubicBezTo>
                  <a:cubicBezTo>
                    <a:pt x="26707" y="5857"/>
                    <a:pt x="40847" y="0"/>
                    <a:pt x="55590" y="0"/>
                  </a:cubicBezTo>
                  <a:close/>
                </a:path>
              </a:pathLst>
            </a:custGeom>
            <a:ln w="9525" cap="rnd">
              <a:solidFill>
                <a:srgbClr val="F8F6F7"/>
              </a:solidFill>
              <a:prstDash val="solid"/>
              <a:round/>
            </a:ln>
          </p:spPr>
          <p:txBody>
            <a:bodyPr/>
            <a:lstStyle/>
            <a:p>
              <a:endParaRPr lang="LID4096"/>
            </a:p>
          </p:txBody>
        </p:sp>
        <p:sp>
          <p:nvSpPr>
            <p:cNvPr id="9" name="TextBox 9"/>
            <p:cNvSpPr txBox="1"/>
            <p:nvPr/>
          </p:nvSpPr>
          <p:spPr>
            <a:xfrm>
              <a:off x="0" y="38100"/>
              <a:ext cx="483041" cy="73080"/>
            </a:xfrm>
            <a:prstGeom prst="rect">
              <a:avLst/>
            </a:prstGeom>
          </p:spPr>
          <p:txBody>
            <a:bodyPr lIns="50800" tIns="50800" rIns="50800" bIns="50800" rtlCol="0" anchor="ctr"/>
            <a:lstStyle/>
            <a:p>
              <a:pPr algn="ctr">
                <a:lnSpc>
                  <a:spcPts val="1260"/>
                </a:lnSpc>
              </a:pPr>
              <a:endParaRPr/>
            </a:p>
          </p:txBody>
        </p:sp>
      </p:grpSp>
      <p:sp>
        <p:nvSpPr>
          <p:cNvPr id="10" name="TextBox 10"/>
          <p:cNvSpPr txBox="1"/>
          <p:nvPr/>
        </p:nvSpPr>
        <p:spPr>
          <a:xfrm>
            <a:off x="1741505" y="908227"/>
            <a:ext cx="3045125" cy="446731"/>
          </a:xfrm>
          <a:prstGeom prst="rect">
            <a:avLst/>
          </a:prstGeom>
        </p:spPr>
        <p:txBody>
          <a:bodyPr lIns="0" tIns="0" rIns="0" bIns="0" rtlCol="0" anchor="t">
            <a:spAutoFit/>
          </a:bodyPr>
          <a:lstStyle/>
          <a:p>
            <a:pPr marL="0" lvl="0" indent="0" algn="l">
              <a:lnSpc>
                <a:spcPts val="3727"/>
              </a:lnSpc>
              <a:spcBef>
                <a:spcPct val="0"/>
              </a:spcBef>
            </a:pPr>
            <a:r>
              <a:rPr lang="en-US" sz="2662" b="1">
                <a:solidFill>
                  <a:srgbClr val="F8F6F7"/>
                </a:solidFill>
                <a:latin typeface="Open Sauce Bold"/>
                <a:ea typeface="Open Sauce Bold"/>
                <a:cs typeface="Open Sauce Bold"/>
                <a:sym typeface="Open Sauce Bold"/>
              </a:rPr>
              <a:t>EduGuardianAI</a:t>
            </a:r>
          </a:p>
        </p:txBody>
      </p:sp>
      <p:sp>
        <p:nvSpPr>
          <p:cNvPr id="11" name="TextBox 11"/>
          <p:cNvSpPr txBox="1"/>
          <p:nvPr/>
        </p:nvSpPr>
        <p:spPr>
          <a:xfrm>
            <a:off x="2169268" y="6651333"/>
            <a:ext cx="10835168" cy="1219914"/>
          </a:xfrm>
          <a:prstGeom prst="rect">
            <a:avLst/>
          </a:prstGeom>
        </p:spPr>
        <p:txBody>
          <a:bodyPr lIns="0" tIns="0" rIns="0" bIns="0" rtlCol="0" anchor="t">
            <a:spAutoFit/>
          </a:bodyPr>
          <a:lstStyle/>
          <a:p>
            <a:pPr algn="just">
              <a:lnSpc>
                <a:spcPts val="3123"/>
              </a:lnSpc>
            </a:pPr>
            <a:r>
              <a:rPr lang="en-US" sz="3470">
                <a:solidFill>
                  <a:srgbClr val="F8F6F7"/>
                </a:solidFill>
                <a:latin typeface="Aileron"/>
                <a:ea typeface="Aileron"/>
                <a:cs typeface="Aileron"/>
                <a:sym typeface="Aileron"/>
              </a:rPr>
              <a:t>ACADEMIC RISK PREDICTION &amp; EARLY INTERVENTION SYSTEM</a:t>
            </a:r>
          </a:p>
          <a:p>
            <a:pPr marL="0" lvl="0" indent="0" algn="just">
              <a:lnSpc>
                <a:spcPts val="3123"/>
              </a:lnSpc>
              <a:spcBef>
                <a:spcPct val="0"/>
              </a:spcBef>
            </a:pPr>
            <a:endParaRPr lang="en-US" sz="3470">
              <a:solidFill>
                <a:srgbClr val="F8F6F7"/>
              </a:solidFill>
              <a:latin typeface="Aileron"/>
              <a:ea typeface="Aileron"/>
              <a:cs typeface="Aileron"/>
              <a:sym typeface="Aileron"/>
            </a:endParaRPr>
          </a:p>
        </p:txBody>
      </p:sp>
      <p:sp>
        <p:nvSpPr>
          <p:cNvPr id="12" name="TextBox 12"/>
          <p:cNvSpPr txBox="1"/>
          <p:nvPr/>
        </p:nvSpPr>
        <p:spPr>
          <a:xfrm>
            <a:off x="1179093" y="8574948"/>
            <a:ext cx="7595668" cy="167640"/>
          </a:xfrm>
          <a:prstGeom prst="rect">
            <a:avLst/>
          </a:prstGeom>
        </p:spPr>
        <p:txBody>
          <a:bodyPr lIns="0" tIns="0" rIns="0" bIns="0" rtlCol="0" anchor="t">
            <a:spAutoFit/>
          </a:bodyPr>
          <a:lstStyle/>
          <a:p>
            <a:pPr marL="0" lvl="0" indent="0" algn="just">
              <a:lnSpc>
                <a:spcPts val="1260"/>
              </a:lnSpc>
              <a:spcBef>
                <a:spcPct val="0"/>
              </a:spcBef>
            </a:pPr>
            <a:r>
              <a:rPr lang="en-US" sz="1400">
                <a:solidFill>
                  <a:srgbClr val="F8F6F7"/>
                </a:solidFill>
                <a:latin typeface="Aileron"/>
                <a:ea typeface="Aileron"/>
                <a:cs typeface="Aileron"/>
                <a:sym typeface="Aileron"/>
              </a:rPr>
              <a:t>Presented by :</a:t>
            </a:r>
          </a:p>
        </p:txBody>
      </p:sp>
      <p:sp>
        <p:nvSpPr>
          <p:cNvPr id="13" name="TextBox 13"/>
          <p:cNvSpPr txBox="1"/>
          <p:nvPr/>
        </p:nvSpPr>
        <p:spPr>
          <a:xfrm>
            <a:off x="1179093" y="8929278"/>
            <a:ext cx="9556041" cy="203835"/>
          </a:xfrm>
          <a:prstGeom prst="rect">
            <a:avLst/>
          </a:prstGeom>
        </p:spPr>
        <p:txBody>
          <a:bodyPr lIns="0" tIns="0" rIns="0" bIns="0" rtlCol="0" anchor="t">
            <a:spAutoFit/>
          </a:bodyPr>
          <a:lstStyle/>
          <a:p>
            <a:pPr marL="0" lvl="0" indent="0" algn="just">
              <a:lnSpc>
                <a:spcPts val="1439"/>
              </a:lnSpc>
              <a:spcBef>
                <a:spcPct val="0"/>
              </a:spcBef>
            </a:pPr>
            <a:r>
              <a:rPr lang="en-US" sz="1599" b="1">
                <a:solidFill>
                  <a:srgbClr val="F8F6F7"/>
                </a:solidFill>
                <a:latin typeface="Open Sauce Bold"/>
                <a:ea typeface="Open Sauce Bold"/>
                <a:cs typeface="Open Sauce Bold"/>
                <a:sym typeface="Open Sauce Bold"/>
              </a:rPr>
              <a:t>IZAAN SHUMAIZ - 34984006 | MOHAMED SINAN - 35078074 | ROHIT KUMAR - 35363998</a:t>
            </a:r>
          </a:p>
        </p:txBody>
      </p:sp>
      <p:sp>
        <p:nvSpPr>
          <p:cNvPr id="14" name="TextBox 14"/>
          <p:cNvSpPr txBox="1"/>
          <p:nvPr/>
        </p:nvSpPr>
        <p:spPr>
          <a:xfrm>
            <a:off x="15425252" y="1161727"/>
            <a:ext cx="1834048" cy="167640"/>
          </a:xfrm>
          <a:prstGeom prst="rect">
            <a:avLst/>
          </a:prstGeom>
        </p:spPr>
        <p:txBody>
          <a:bodyPr lIns="0" tIns="0" rIns="0" bIns="0" rtlCol="0" anchor="t">
            <a:spAutoFit/>
          </a:bodyPr>
          <a:lstStyle/>
          <a:p>
            <a:pPr marL="0" lvl="0" indent="0" algn="ctr">
              <a:lnSpc>
                <a:spcPts val="1260"/>
              </a:lnSpc>
              <a:spcBef>
                <a:spcPct val="0"/>
              </a:spcBef>
            </a:pPr>
            <a:r>
              <a:rPr lang="en-US" sz="1400" dirty="0">
                <a:solidFill>
                  <a:srgbClr val="F8F6F7"/>
                </a:solidFill>
                <a:latin typeface="Aileron"/>
                <a:ea typeface="Aileron"/>
                <a:cs typeface="Aileron"/>
                <a:sym typeface="Aileron"/>
              </a:rPr>
              <a:t>ICT304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4711996" y="3632245"/>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95964"/>
            <a:ext cx="14958117" cy="1973292"/>
          </a:xfrm>
          <a:prstGeom prst="rect">
            <a:avLst/>
          </a:prstGeom>
        </p:spPr>
        <p:txBody>
          <a:bodyPr lIns="0" tIns="0" rIns="0" bIns="0" rtlCol="0" anchor="t">
            <a:spAutoFit/>
          </a:bodyPr>
          <a:lstStyle/>
          <a:p>
            <a:pPr marL="0" lvl="0" indent="0" algn="l">
              <a:lnSpc>
                <a:spcPts val="15268"/>
              </a:lnSpc>
            </a:pPr>
            <a:r>
              <a:rPr lang="en-US" sz="14008" b="1" spc="-910">
                <a:solidFill>
                  <a:srgbClr val="152047"/>
                </a:solidFill>
                <a:latin typeface="Open Sauce Bold"/>
                <a:ea typeface="Open Sauce Bold"/>
                <a:cs typeface="Open Sauce Bold"/>
                <a:sym typeface="Open Sauce Bold"/>
              </a:rPr>
              <a:t>Problem Domain</a:t>
            </a:r>
          </a:p>
        </p:txBody>
      </p:sp>
      <p:sp>
        <p:nvSpPr>
          <p:cNvPr id="7" name="TextBox 7"/>
          <p:cNvSpPr txBox="1"/>
          <p:nvPr/>
        </p:nvSpPr>
        <p:spPr>
          <a:xfrm>
            <a:off x="1179093" y="4903323"/>
            <a:ext cx="5511732" cy="405765"/>
          </a:xfrm>
          <a:prstGeom prst="rect">
            <a:avLst/>
          </a:prstGeom>
        </p:spPr>
        <p:txBody>
          <a:bodyPr lIns="0" tIns="0" rIns="0" bIns="0" rtlCol="0" anchor="t">
            <a:spAutoFit/>
          </a:bodyPr>
          <a:lstStyle/>
          <a:p>
            <a:pPr marL="0" lvl="0" indent="0" algn="l">
              <a:lnSpc>
                <a:spcPts val="3030"/>
              </a:lnSpc>
            </a:pPr>
            <a:r>
              <a:rPr lang="en-US" sz="3000" b="1">
                <a:solidFill>
                  <a:srgbClr val="152047"/>
                </a:solidFill>
                <a:latin typeface="Aileron Bold"/>
                <a:ea typeface="Aileron Bold"/>
                <a:cs typeface="Aileron Bold"/>
                <a:sym typeface="Aileron Bold"/>
              </a:rPr>
              <a:t>The Porblem</a:t>
            </a:r>
          </a:p>
        </p:txBody>
      </p:sp>
      <p:sp>
        <p:nvSpPr>
          <p:cNvPr id="8" name="TextBox 8"/>
          <p:cNvSpPr txBox="1"/>
          <p:nvPr/>
        </p:nvSpPr>
        <p:spPr>
          <a:xfrm>
            <a:off x="1179093" y="5562063"/>
            <a:ext cx="6375042" cy="3257550"/>
          </a:xfrm>
          <a:prstGeom prst="rect">
            <a:avLst/>
          </a:prstGeom>
        </p:spPr>
        <p:txBody>
          <a:bodyPr lIns="0" tIns="0" rIns="0" bIns="0" rtlCol="0" anchor="t">
            <a:spAutoFit/>
          </a:bodyPr>
          <a:lstStyle/>
          <a:p>
            <a:pPr marL="518160" lvl="1" indent="-259080" algn="l">
              <a:lnSpc>
                <a:spcPts val="2879"/>
              </a:lnSpc>
              <a:buFont typeface="Arial"/>
              <a:buChar char="•"/>
            </a:pPr>
            <a:r>
              <a:rPr lang="en-US" sz="2400">
                <a:solidFill>
                  <a:srgbClr val="152047"/>
                </a:solidFill>
                <a:latin typeface="Aileron"/>
                <a:ea typeface="Aileron"/>
                <a:cs typeface="Aileron"/>
                <a:sym typeface="Aileron"/>
              </a:rPr>
              <a:t>Unive</a:t>
            </a:r>
            <a:r>
              <a:rPr lang="en-US" sz="2400" u="none" strike="noStrike">
                <a:solidFill>
                  <a:srgbClr val="152047"/>
                </a:solidFill>
                <a:latin typeface="Aileron"/>
                <a:ea typeface="Aileron"/>
                <a:cs typeface="Aileron"/>
                <a:sym typeface="Aileron"/>
              </a:rPr>
              <a:t>rsities often identify at-risk students only after major assessments</a:t>
            </a:r>
          </a:p>
          <a:p>
            <a:pPr marL="518160" lvl="1" indent="-259080" algn="l">
              <a:lnSpc>
                <a:spcPts val="2879"/>
              </a:lnSpc>
              <a:buFont typeface="Arial"/>
              <a:buChar char="•"/>
            </a:pPr>
            <a:r>
              <a:rPr lang="en-US" sz="2400" u="none" strike="noStrike">
                <a:solidFill>
                  <a:srgbClr val="152047"/>
                </a:solidFill>
                <a:latin typeface="Aileron"/>
                <a:ea typeface="Aileron"/>
                <a:cs typeface="Aileron"/>
                <a:sym typeface="Aileron"/>
              </a:rPr>
              <a:t>This results in delayed intervention and reduced chances of academic recovery</a:t>
            </a:r>
          </a:p>
          <a:p>
            <a:pPr marL="518160" lvl="1" indent="-259080" algn="l">
              <a:lnSpc>
                <a:spcPts val="2879"/>
              </a:lnSpc>
              <a:buFont typeface="Arial"/>
              <a:buChar char="•"/>
            </a:pPr>
            <a:r>
              <a:rPr lang="en-US" sz="2400" u="none" strike="noStrike">
                <a:solidFill>
                  <a:srgbClr val="152047"/>
                </a:solidFill>
                <a:latin typeface="Aileron"/>
                <a:ea typeface="Aileron"/>
                <a:cs typeface="Aileron"/>
                <a:sym typeface="Aileron"/>
              </a:rPr>
              <a:t>Early disengagement and declining performance patterns often go unnoticed</a:t>
            </a:r>
          </a:p>
          <a:p>
            <a:pPr marL="518160" lvl="1" indent="-259080" algn="l">
              <a:lnSpc>
                <a:spcPts val="2879"/>
              </a:lnSpc>
              <a:buFont typeface="Arial"/>
              <a:buChar char="•"/>
            </a:pPr>
            <a:r>
              <a:rPr lang="en-US" sz="2400" u="none" strike="noStrike">
                <a:solidFill>
                  <a:srgbClr val="152047"/>
                </a:solidFill>
                <a:latin typeface="Aileron"/>
                <a:ea typeface="Aileron"/>
                <a:cs typeface="Aileron"/>
                <a:sym typeface="Aileron"/>
              </a:rPr>
              <a:t>Manual tracking is time-consuming and inconsistent, especially in large cohorts</a:t>
            </a:r>
          </a:p>
          <a:p>
            <a:pPr marL="0" lvl="0" indent="0" algn="l">
              <a:lnSpc>
                <a:spcPts val="2879"/>
              </a:lnSpc>
            </a:pPr>
            <a:endParaRPr lang="en-US" sz="2400" u="none" strike="noStrike">
              <a:solidFill>
                <a:srgbClr val="152047"/>
              </a:solidFill>
              <a:latin typeface="Aileron"/>
              <a:ea typeface="Aileron"/>
              <a:cs typeface="Aileron"/>
              <a:sym typeface="Aileron"/>
            </a:endParaRPr>
          </a:p>
        </p:txBody>
      </p:sp>
      <p:sp>
        <p:nvSpPr>
          <p:cNvPr id="9" name="Freeform 9"/>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10" name="TextBox 10"/>
          <p:cNvSpPr txBox="1"/>
          <p:nvPr/>
        </p:nvSpPr>
        <p:spPr>
          <a:xfrm>
            <a:off x="9200264" y="4903323"/>
            <a:ext cx="5511732" cy="405765"/>
          </a:xfrm>
          <a:prstGeom prst="rect">
            <a:avLst/>
          </a:prstGeom>
        </p:spPr>
        <p:txBody>
          <a:bodyPr lIns="0" tIns="0" rIns="0" bIns="0" rtlCol="0" anchor="t">
            <a:spAutoFit/>
          </a:bodyPr>
          <a:lstStyle/>
          <a:p>
            <a:pPr marL="0" lvl="0" indent="0" algn="l">
              <a:lnSpc>
                <a:spcPts val="3030"/>
              </a:lnSpc>
            </a:pPr>
            <a:r>
              <a:rPr lang="en-US" sz="3000" b="1">
                <a:solidFill>
                  <a:srgbClr val="152047"/>
                </a:solidFill>
                <a:latin typeface="Aileron Bold"/>
                <a:ea typeface="Aileron Bold"/>
                <a:cs typeface="Aileron Bold"/>
                <a:sym typeface="Aileron Bold"/>
              </a:rPr>
              <a:t>Core Issue</a:t>
            </a:r>
          </a:p>
        </p:txBody>
      </p:sp>
      <p:sp>
        <p:nvSpPr>
          <p:cNvPr id="11" name="TextBox 11"/>
          <p:cNvSpPr txBox="1"/>
          <p:nvPr/>
        </p:nvSpPr>
        <p:spPr>
          <a:xfrm>
            <a:off x="9144000" y="5562063"/>
            <a:ext cx="4350829" cy="1447800"/>
          </a:xfrm>
          <a:prstGeom prst="rect">
            <a:avLst/>
          </a:prstGeom>
        </p:spPr>
        <p:txBody>
          <a:bodyPr lIns="0" tIns="0" rIns="0" bIns="0" rtlCol="0" anchor="t">
            <a:spAutoFit/>
          </a:bodyPr>
          <a:lstStyle/>
          <a:p>
            <a:pPr marL="0" lvl="0" indent="0" algn="l">
              <a:lnSpc>
                <a:spcPts val="2879"/>
              </a:lnSpc>
            </a:pPr>
            <a:r>
              <a:rPr lang="en-US" sz="2400">
                <a:solidFill>
                  <a:srgbClr val="152047"/>
                </a:solidFill>
                <a:latin typeface="Aileron"/>
                <a:ea typeface="Aileron"/>
                <a:cs typeface="Aileron"/>
                <a:sym typeface="Aileron"/>
              </a:rPr>
              <a:t>The</a:t>
            </a:r>
            <a:r>
              <a:rPr lang="en-US" sz="2400" u="none" strike="noStrike">
                <a:solidFill>
                  <a:srgbClr val="152047"/>
                </a:solidFill>
                <a:latin typeface="Aileron"/>
                <a:ea typeface="Aileron"/>
                <a:cs typeface="Aileron"/>
                <a:sym typeface="Aileron"/>
              </a:rPr>
              <a:t>re is no automated, data-driven system capable of identifying at-risk students early using partial semester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845594" y="1831366"/>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223842"/>
            <a:ext cx="9220267" cy="1986083"/>
          </a:xfrm>
          <a:prstGeom prst="rect">
            <a:avLst/>
          </a:prstGeom>
        </p:spPr>
        <p:txBody>
          <a:bodyPr lIns="0" tIns="0" rIns="0" bIns="0" rtlCol="0" anchor="t">
            <a:spAutoFit/>
          </a:bodyPr>
          <a:lstStyle/>
          <a:p>
            <a:pPr marL="0" lvl="0" indent="0" algn="l">
              <a:lnSpc>
                <a:spcPts val="15244"/>
              </a:lnSpc>
            </a:pPr>
            <a:r>
              <a:rPr lang="en-US" sz="13985" b="1" spc="-909">
                <a:solidFill>
                  <a:srgbClr val="152047"/>
                </a:solidFill>
                <a:latin typeface="Open Sauce Bold"/>
                <a:ea typeface="Open Sauce Bold"/>
                <a:cs typeface="Open Sauce Bold"/>
                <a:sym typeface="Open Sauce Bold"/>
              </a:rPr>
              <a:t>Motivation</a:t>
            </a:r>
          </a:p>
        </p:txBody>
      </p:sp>
      <p:sp>
        <p:nvSpPr>
          <p:cNvPr id="7" name="TextBox 7"/>
          <p:cNvSpPr txBox="1"/>
          <p:nvPr/>
        </p:nvSpPr>
        <p:spPr>
          <a:xfrm>
            <a:off x="1028700" y="5686935"/>
            <a:ext cx="6657528" cy="2533650"/>
          </a:xfrm>
          <a:prstGeom prst="rect">
            <a:avLst/>
          </a:prstGeom>
        </p:spPr>
        <p:txBody>
          <a:bodyPr lIns="0" tIns="0" rIns="0" bIns="0" rtlCol="0" anchor="t">
            <a:spAutoFit/>
          </a:bodyPr>
          <a:lstStyle/>
          <a:p>
            <a:pPr marL="518160" lvl="1" indent="-259080" algn="l">
              <a:lnSpc>
                <a:spcPts val="2879"/>
              </a:lnSpc>
              <a:buFont typeface="Arial"/>
              <a:buChar char="•"/>
            </a:pPr>
            <a:r>
              <a:rPr lang="en-US" sz="2400">
                <a:solidFill>
                  <a:srgbClr val="152047"/>
                </a:solidFill>
                <a:latin typeface="Aileron"/>
                <a:ea typeface="Aileron"/>
                <a:cs typeface="Aileron"/>
                <a:sym typeface="Aileron"/>
              </a:rPr>
              <a:t>Ea</a:t>
            </a:r>
            <a:r>
              <a:rPr lang="en-US" sz="2400" u="none" strike="noStrike">
                <a:solidFill>
                  <a:srgbClr val="152047"/>
                </a:solidFill>
                <a:latin typeface="Aileron"/>
                <a:ea typeface="Aileron"/>
                <a:cs typeface="Aileron"/>
                <a:sym typeface="Aileron"/>
              </a:rPr>
              <a:t>rly identification enables timely intervention and improves student outcomes</a:t>
            </a:r>
          </a:p>
          <a:p>
            <a:pPr marL="518160" lvl="1" indent="-259080" algn="l">
              <a:lnSpc>
                <a:spcPts val="2879"/>
              </a:lnSpc>
              <a:buFont typeface="Arial"/>
              <a:buChar char="•"/>
            </a:pPr>
            <a:r>
              <a:rPr lang="en-US" sz="2400" u="none" strike="noStrike">
                <a:solidFill>
                  <a:srgbClr val="152047"/>
                </a:solidFill>
                <a:latin typeface="Aileron"/>
                <a:ea typeface="Aileron"/>
                <a:cs typeface="Aileron"/>
                <a:sym typeface="Aileron"/>
              </a:rPr>
              <a:t>Institutions aim to improve retention and academic success rates</a:t>
            </a:r>
          </a:p>
          <a:p>
            <a:pPr marL="518160" lvl="1" indent="-259080" algn="l">
              <a:lnSpc>
                <a:spcPts val="2879"/>
              </a:lnSpc>
              <a:buFont typeface="Arial"/>
              <a:buChar char="•"/>
            </a:pPr>
            <a:r>
              <a:rPr lang="en-US" sz="2400" u="none" strike="noStrike">
                <a:solidFill>
                  <a:srgbClr val="152047"/>
                </a:solidFill>
                <a:latin typeface="Aileron"/>
                <a:ea typeface="Aileron"/>
                <a:cs typeface="Aileron"/>
                <a:sym typeface="Aileron"/>
              </a:rPr>
              <a:t>Academic staff require scalable and consistent decision-support tools</a:t>
            </a:r>
          </a:p>
          <a:p>
            <a:pPr marL="0" lvl="0" indent="0" algn="l">
              <a:lnSpc>
                <a:spcPts val="2879"/>
              </a:lnSpc>
            </a:pPr>
            <a:endParaRPr lang="en-US" sz="2400" u="none" strike="noStrike">
              <a:solidFill>
                <a:srgbClr val="152047"/>
              </a:solidFill>
              <a:latin typeface="Aileron"/>
              <a:ea typeface="Aileron"/>
              <a:cs typeface="Aileron"/>
              <a:sym typeface="Aileron"/>
            </a:endParaRPr>
          </a:p>
        </p:txBody>
      </p:sp>
      <p:sp>
        <p:nvSpPr>
          <p:cNvPr id="8" name="TextBox 8"/>
          <p:cNvSpPr txBox="1"/>
          <p:nvPr/>
        </p:nvSpPr>
        <p:spPr>
          <a:xfrm>
            <a:off x="1179093" y="4957320"/>
            <a:ext cx="6733463" cy="405765"/>
          </a:xfrm>
          <a:prstGeom prst="rect">
            <a:avLst/>
          </a:prstGeom>
        </p:spPr>
        <p:txBody>
          <a:bodyPr lIns="0" tIns="0" rIns="0" bIns="0" rtlCol="0" anchor="t">
            <a:spAutoFit/>
          </a:bodyPr>
          <a:lstStyle/>
          <a:p>
            <a:pPr algn="l">
              <a:lnSpc>
                <a:spcPts val="3030"/>
              </a:lnSpc>
            </a:pPr>
            <a:r>
              <a:rPr lang="en-US" sz="3000" b="1">
                <a:solidFill>
                  <a:srgbClr val="152047"/>
                </a:solidFill>
                <a:latin typeface="Aileron Bold"/>
                <a:ea typeface="Aileron Bold"/>
                <a:cs typeface="Aileron Bold"/>
                <a:sym typeface="Aileron Bold"/>
              </a:rPr>
              <a:t>Why</a:t>
            </a:r>
            <a:r>
              <a:rPr lang="en-US" sz="3000" b="1" u="none" strike="noStrike">
                <a:solidFill>
                  <a:srgbClr val="152047"/>
                </a:solidFill>
                <a:latin typeface="Aileron Bold"/>
                <a:ea typeface="Aileron Bold"/>
                <a:cs typeface="Aileron Bold"/>
                <a:sym typeface="Aileron Bold"/>
              </a:rPr>
              <a:t> This Problem Matters</a:t>
            </a:r>
          </a:p>
        </p:txBody>
      </p:sp>
      <p:sp>
        <p:nvSpPr>
          <p:cNvPr id="9" name="AutoShape 9"/>
          <p:cNvSpPr/>
          <p:nvPr/>
        </p:nvSpPr>
        <p:spPr>
          <a:xfrm>
            <a:off x="10248967" y="7636948"/>
            <a:ext cx="16375695" cy="0"/>
          </a:xfrm>
          <a:prstGeom prst="line">
            <a:avLst/>
          </a:prstGeom>
          <a:ln w="9525" cap="flat">
            <a:gradFill>
              <a:gsLst>
                <a:gs pos="0">
                  <a:srgbClr val="101B3B">
                    <a:alpha val="63000"/>
                  </a:srgbClr>
                </a:gs>
                <a:gs pos="100000">
                  <a:srgbClr val="243472">
                    <a:alpha val="63000"/>
                  </a:srgbClr>
                </a:gs>
              </a:gsLst>
              <a:lin ang="0"/>
            </a:gradFill>
            <a:prstDash val="solid"/>
            <a:headEnd type="none" w="sm" len="sm"/>
            <a:tailEnd type="none" w="sm" len="sm"/>
          </a:ln>
        </p:spPr>
        <p:txBody>
          <a:bodyPr/>
          <a:lstStyle/>
          <a:p>
            <a:endParaRPr lang="LID4096"/>
          </a:p>
        </p:txBody>
      </p:sp>
      <p:sp>
        <p:nvSpPr>
          <p:cNvPr id="10" name="Freeform 10"/>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11" name="TextBox 11"/>
          <p:cNvSpPr txBox="1"/>
          <p:nvPr/>
        </p:nvSpPr>
        <p:spPr>
          <a:xfrm>
            <a:off x="10248967" y="4785870"/>
            <a:ext cx="2705033" cy="384721"/>
          </a:xfrm>
          <a:prstGeom prst="rect">
            <a:avLst/>
          </a:prstGeom>
        </p:spPr>
        <p:txBody>
          <a:bodyPr wrap="square" lIns="0" tIns="0" rIns="0" bIns="0" rtlCol="0" anchor="t">
            <a:spAutoFit/>
          </a:bodyPr>
          <a:lstStyle/>
          <a:p>
            <a:pPr algn="l">
              <a:lnSpc>
                <a:spcPts val="3030"/>
              </a:lnSpc>
            </a:pPr>
            <a:r>
              <a:rPr lang="en-US" sz="3000" b="1" dirty="0">
                <a:solidFill>
                  <a:srgbClr val="152047"/>
                </a:solidFill>
                <a:latin typeface="Aileron Bold"/>
                <a:ea typeface="Aileron Bold"/>
                <a:cs typeface="Aileron Bold"/>
                <a:sym typeface="Aileron Bold"/>
              </a:rPr>
              <a:t>Opportunity</a:t>
            </a:r>
          </a:p>
        </p:txBody>
      </p:sp>
      <p:sp>
        <p:nvSpPr>
          <p:cNvPr id="12" name="TextBox 12"/>
          <p:cNvSpPr txBox="1"/>
          <p:nvPr/>
        </p:nvSpPr>
        <p:spPr>
          <a:xfrm>
            <a:off x="10248967" y="5686935"/>
            <a:ext cx="6657528" cy="1447800"/>
          </a:xfrm>
          <a:prstGeom prst="rect">
            <a:avLst/>
          </a:prstGeom>
        </p:spPr>
        <p:txBody>
          <a:bodyPr lIns="0" tIns="0" rIns="0" bIns="0" rtlCol="0" anchor="t">
            <a:spAutoFit/>
          </a:bodyPr>
          <a:lstStyle/>
          <a:p>
            <a:pPr algn="l">
              <a:lnSpc>
                <a:spcPts val="2879"/>
              </a:lnSpc>
            </a:pPr>
            <a:r>
              <a:rPr lang="en-US" sz="2400">
                <a:solidFill>
                  <a:srgbClr val="152047"/>
                </a:solidFill>
                <a:latin typeface="Aileron"/>
                <a:ea typeface="Aileron"/>
                <a:cs typeface="Aileron"/>
                <a:sym typeface="Aileron"/>
              </a:rPr>
              <a:t>W</a:t>
            </a:r>
            <a:r>
              <a:rPr lang="en-US" sz="2400" u="none" strike="noStrike">
                <a:solidFill>
                  <a:srgbClr val="152047"/>
                </a:solidFill>
                <a:latin typeface="Aileron"/>
                <a:ea typeface="Aileron"/>
                <a:cs typeface="Aileron"/>
                <a:sym typeface="Aileron"/>
              </a:rPr>
              <a:t>ith the availability of LMS data and assessment records, AI can be used to detect patterns early and support proactive decision-making.</a:t>
            </a:r>
          </a:p>
          <a:p>
            <a:pPr marL="0" lvl="0" indent="0" algn="l">
              <a:lnSpc>
                <a:spcPts val="2879"/>
              </a:lnSpc>
            </a:pPr>
            <a:endParaRPr lang="en-US" sz="2400" u="none" strike="noStrike">
              <a:solidFill>
                <a:srgbClr val="152047"/>
              </a:solidFill>
              <a:latin typeface="Aileron"/>
              <a:ea typeface="Aileron"/>
              <a:cs typeface="Aileron"/>
              <a:sym typeface="Ailero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4812711" y="732175"/>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613848"/>
            <a:ext cx="15356089" cy="1973292"/>
          </a:xfrm>
          <a:prstGeom prst="rect">
            <a:avLst/>
          </a:prstGeom>
        </p:spPr>
        <p:txBody>
          <a:bodyPr lIns="0" tIns="0" rIns="0" bIns="0" rtlCol="0" anchor="t">
            <a:spAutoFit/>
          </a:bodyPr>
          <a:lstStyle/>
          <a:p>
            <a:pPr marL="0" lvl="0" indent="0" algn="l">
              <a:lnSpc>
                <a:spcPts val="15268"/>
              </a:lnSpc>
            </a:pPr>
            <a:r>
              <a:rPr lang="en-US" sz="14008" b="1" spc="-910">
                <a:solidFill>
                  <a:srgbClr val="F8F6F7"/>
                </a:solidFill>
                <a:latin typeface="Open Sauce Bold"/>
                <a:ea typeface="Open Sauce Bold"/>
                <a:cs typeface="Open Sauce Bold"/>
                <a:sym typeface="Open Sauce Bold"/>
              </a:rPr>
              <a:t>Proposed Solution</a:t>
            </a:r>
          </a:p>
        </p:txBody>
      </p:sp>
      <p:sp>
        <p:nvSpPr>
          <p:cNvPr id="7" name="TextBox 7"/>
          <p:cNvSpPr txBox="1"/>
          <p:nvPr/>
        </p:nvSpPr>
        <p:spPr>
          <a:xfrm>
            <a:off x="1038955" y="4685585"/>
            <a:ext cx="15152314" cy="4095750"/>
          </a:xfrm>
          <a:prstGeom prst="rect">
            <a:avLst/>
          </a:prstGeom>
        </p:spPr>
        <p:txBody>
          <a:bodyPr lIns="0" tIns="0" rIns="0" bIns="0" rtlCol="0" anchor="t">
            <a:spAutoFit/>
          </a:bodyPr>
          <a:lstStyle/>
          <a:p>
            <a:pPr algn="l">
              <a:lnSpc>
                <a:spcPts val="3239"/>
              </a:lnSpc>
            </a:pPr>
            <a:r>
              <a:rPr lang="en-US" sz="2699">
                <a:solidFill>
                  <a:srgbClr val="F8F6F7"/>
                </a:solidFill>
                <a:latin typeface="Aileron"/>
                <a:ea typeface="Aileron"/>
                <a:cs typeface="Aileron"/>
                <a:sym typeface="Aileron"/>
              </a:rPr>
              <a:t>EduGuardian AI is a hybrid academic risk prediction system designed to analyse early-semester performance data and identify students at risk of failure.</a:t>
            </a:r>
          </a:p>
          <a:p>
            <a:pPr algn="l">
              <a:lnSpc>
                <a:spcPts val="3239"/>
              </a:lnSpc>
            </a:pPr>
            <a:endParaRPr lang="en-US" sz="2699">
              <a:solidFill>
                <a:srgbClr val="F8F6F7"/>
              </a:solidFill>
              <a:latin typeface="Aileron"/>
              <a:ea typeface="Aileron"/>
              <a:cs typeface="Aileron"/>
              <a:sym typeface="Aileron"/>
            </a:endParaRPr>
          </a:p>
          <a:p>
            <a:pPr marL="582928" lvl="1" indent="-291464" algn="l">
              <a:lnSpc>
                <a:spcPts val="3239"/>
              </a:lnSpc>
              <a:buFont typeface="Arial"/>
              <a:buChar char="•"/>
            </a:pPr>
            <a:r>
              <a:rPr lang="en-US" sz="2699">
                <a:solidFill>
                  <a:srgbClr val="F8F6F7"/>
                </a:solidFill>
                <a:latin typeface="Aileron"/>
                <a:ea typeface="Aileron"/>
                <a:cs typeface="Aileron"/>
                <a:sym typeface="Aileron"/>
              </a:rPr>
              <a:t>Uses quiz scores, assignment performance, and other indicators</a:t>
            </a:r>
          </a:p>
          <a:p>
            <a:pPr marL="582928" lvl="1" indent="-291464" algn="l">
              <a:lnSpc>
                <a:spcPts val="3239"/>
              </a:lnSpc>
              <a:buFont typeface="Arial"/>
              <a:buChar char="•"/>
            </a:pPr>
            <a:r>
              <a:rPr lang="en-US" sz="2699">
                <a:solidFill>
                  <a:srgbClr val="F8F6F7"/>
                </a:solidFill>
                <a:latin typeface="Aileron"/>
                <a:ea typeface="Aileron"/>
                <a:cs typeface="Aileron"/>
                <a:sym typeface="Aileron"/>
              </a:rPr>
              <a:t>Generates probability-based predictions</a:t>
            </a:r>
          </a:p>
          <a:p>
            <a:pPr marL="582928" lvl="1" indent="-291464" algn="l">
              <a:lnSpc>
                <a:spcPts val="3239"/>
              </a:lnSpc>
              <a:buFont typeface="Arial"/>
              <a:buChar char="•"/>
            </a:pPr>
            <a:r>
              <a:rPr lang="en-US" sz="2699">
                <a:solidFill>
                  <a:srgbClr val="F8F6F7"/>
                </a:solidFill>
                <a:latin typeface="Aileron"/>
                <a:ea typeface="Aileron"/>
                <a:cs typeface="Aileron"/>
                <a:sym typeface="Aileron"/>
              </a:rPr>
              <a:t>Classifies students into LOW, MEDIUM, and HIGH risk categories</a:t>
            </a:r>
          </a:p>
          <a:p>
            <a:pPr marL="582928" lvl="1" indent="-291464" algn="l">
              <a:lnSpc>
                <a:spcPts val="3239"/>
              </a:lnSpc>
              <a:buFont typeface="Arial"/>
              <a:buChar char="•"/>
            </a:pPr>
            <a:r>
              <a:rPr lang="en-US" sz="2699">
                <a:solidFill>
                  <a:srgbClr val="F8F6F7"/>
                </a:solidFill>
                <a:latin typeface="Aileron"/>
                <a:ea typeface="Aileron"/>
                <a:cs typeface="Aileron"/>
                <a:sym typeface="Aileron"/>
              </a:rPr>
              <a:t>Provides actionable insights to support academic staff</a:t>
            </a:r>
          </a:p>
          <a:p>
            <a:pPr algn="l">
              <a:lnSpc>
                <a:spcPts val="3239"/>
              </a:lnSpc>
            </a:pPr>
            <a:endParaRPr lang="en-US" sz="2699">
              <a:solidFill>
                <a:srgbClr val="F8F6F7"/>
              </a:solidFill>
              <a:latin typeface="Aileron"/>
              <a:ea typeface="Aileron"/>
              <a:cs typeface="Aileron"/>
              <a:sym typeface="Aileron"/>
            </a:endParaRPr>
          </a:p>
          <a:p>
            <a:pPr algn="l">
              <a:lnSpc>
                <a:spcPts val="3239"/>
              </a:lnSpc>
            </a:pPr>
            <a:r>
              <a:rPr lang="en-US" sz="2699">
                <a:solidFill>
                  <a:srgbClr val="F8F6F7"/>
                </a:solidFill>
                <a:latin typeface="Aileron"/>
                <a:ea typeface="Aileron"/>
                <a:cs typeface="Aileron"/>
                <a:sym typeface="Aileron"/>
              </a:rPr>
              <a:t>This system supports decision-making rather than replacing academic judgement.</a:t>
            </a:r>
          </a:p>
          <a:p>
            <a:pPr marL="0" lvl="0" indent="0" algn="l">
              <a:lnSpc>
                <a:spcPts val="3239"/>
              </a:lnSpc>
            </a:pPr>
            <a:endParaRPr lang="en-US" sz="2699">
              <a:solidFill>
                <a:srgbClr val="F8F6F7"/>
              </a:solidFill>
              <a:latin typeface="Aileron"/>
              <a:ea typeface="Aileron"/>
              <a:cs typeface="Aileron"/>
              <a:sym typeface="Aileron"/>
            </a:endParaRPr>
          </a:p>
        </p:txBody>
      </p:sp>
      <p:sp>
        <p:nvSpPr>
          <p:cNvPr id="8" name="Freeform 8"/>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028700" y="228662"/>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223842"/>
            <a:ext cx="15259027" cy="1986083"/>
          </a:xfrm>
          <a:prstGeom prst="rect">
            <a:avLst/>
          </a:prstGeom>
        </p:spPr>
        <p:txBody>
          <a:bodyPr lIns="0" tIns="0" rIns="0" bIns="0" rtlCol="0" anchor="t">
            <a:spAutoFit/>
          </a:bodyPr>
          <a:lstStyle/>
          <a:p>
            <a:pPr marL="0" lvl="0" indent="0" algn="l">
              <a:lnSpc>
                <a:spcPts val="15244"/>
              </a:lnSpc>
            </a:pPr>
            <a:r>
              <a:rPr lang="en-US" sz="13985" b="1" spc="-909">
                <a:solidFill>
                  <a:srgbClr val="152047"/>
                </a:solidFill>
                <a:latin typeface="Open Sauce Bold"/>
                <a:ea typeface="Open Sauce Bold"/>
                <a:cs typeface="Open Sauce Bold"/>
                <a:sym typeface="Open Sauce Bold"/>
              </a:rPr>
              <a:t>System Objectives</a:t>
            </a:r>
          </a:p>
        </p:txBody>
      </p:sp>
      <p:sp>
        <p:nvSpPr>
          <p:cNvPr id="7" name="TextBox 7"/>
          <p:cNvSpPr txBox="1"/>
          <p:nvPr/>
        </p:nvSpPr>
        <p:spPr>
          <a:xfrm>
            <a:off x="1394238" y="5143500"/>
            <a:ext cx="14527951" cy="2914650"/>
          </a:xfrm>
          <a:prstGeom prst="rect">
            <a:avLst/>
          </a:prstGeom>
        </p:spPr>
        <p:txBody>
          <a:bodyPr lIns="0" tIns="0" rIns="0" bIns="0" rtlCol="0" anchor="t">
            <a:spAutoFit/>
          </a:bodyPr>
          <a:lstStyle/>
          <a:p>
            <a:pPr marL="690876" lvl="1" indent="-345438" algn="l">
              <a:lnSpc>
                <a:spcPts val="3839"/>
              </a:lnSpc>
              <a:buFont typeface="Arial"/>
              <a:buChar char="•"/>
            </a:pPr>
            <a:r>
              <a:rPr lang="en-US" sz="3199">
                <a:solidFill>
                  <a:srgbClr val="152047"/>
                </a:solidFill>
                <a:latin typeface="Aileron"/>
                <a:ea typeface="Aileron"/>
                <a:cs typeface="Aileron"/>
                <a:sym typeface="Aileron"/>
              </a:rPr>
              <a:t>I</a:t>
            </a:r>
            <a:r>
              <a:rPr lang="en-US" sz="3199" u="none" strike="noStrike">
                <a:solidFill>
                  <a:srgbClr val="152047"/>
                </a:solidFill>
                <a:latin typeface="Aileron"/>
                <a:ea typeface="Aileron"/>
                <a:cs typeface="Aileron"/>
                <a:sym typeface="Aileron"/>
              </a:rPr>
              <a:t>dentify at-risk students early using partial data</a:t>
            </a:r>
          </a:p>
          <a:p>
            <a:pPr marL="690876" lvl="1" indent="-345438" algn="l">
              <a:lnSpc>
                <a:spcPts val="3839"/>
              </a:lnSpc>
              <a:buFont typeface="Arial"/>
              <a:buChar char="•"/>
            </a:pPr>
            <a:r>
              <a:rPr lang="en-US" sz="3199" u="none" strike="noStrike">
                <a:solidFill>
                  <a:srgbClr val="152047"/>
                </a:solidFill>
                <a:latin typeface="Aileron"/>
                <a:ea typeface="Aileron"/>
                <a:cs typeface="Aileron"/>
                <a:sym typeface="Aileron"/>
              </a:rPr>
              <a:t>Provide interpretable and actionable risk predictions</a:t>
            </a:r>
          </a:p>
          <a:p>
            <a:pPr marL="690876" lvl="1" indent="-345438" algn="l">
              <a:lnSpc>
                <a:spcPts val="3839"/>
              </a:lnSpc>
              <a:buFont typeface="Arial"/>
              <a:buChar char="•"/>
            </a:pPr>
            <a:r>
              <a:rPr lang="en-US" sz="3199" u="none" strike="noStrike">
                <a:solidFill>
                  <a:srgbClr val="152047"/>
                </a:solidFill>
                <a:latin typeface="Aileron"/>
                <a:ea typeface="Aileron"/>
                <a:cs typeface="Aileron"/>
                <a:sym typeface="Aileron"/>
              </a:rPr>
              <a:t>Support academic staff in decision-making</a:t>
            </a:r>
          </a:p>
          <a:p>
            <a:pPr marL="690876" lvl="1" indent="-345438" algn="l">
              <a:lnSpc>
                <a:spcPts val="3839"/>
              </a:lnSpc>
              <a:buFont typeface="Arial"/>
              <a:buChar char="•"/>
            </a:pPr>
            <a:r>
              <a:rPr lang="en-US" sz="3199" u="none" strike="noStrike">
                <a:solidFill>
                  <a:srgbClr val="152047"/>
                </a:solidFill>
                <a:latin typeface="Aileron"/>
                <a:ea typeface="Aileron"/>
                <a:cs typeface="Aileron"/>
                <a:sym typeface="Aileron"/>
              </a:rPr>
              <a:t>Develop a complete AI system, not just a predictive model</a:t>
            </a:r>
          </a:p>
          <a:p>
            <a:pPr marL="690876" lvl="1" indent="-345438" algn="l">
              <a:lnSpc>
                <a:spcPts val="3839"/>
              </a:lnSpc>
              <a:buFont typeface="Arial"/>
              <a:buChar char="•"/>
            </a:pPr>
            <a:r>
              <a:rPr lang="en-US" sz="3199" u="none" strike="noStrike">
                <a:solidFill>
                  <a:srgbClr val="152047"/>
                </a:solidFill>
                <a:latin typeface="Aileron"/>
                <a:ea typeface="Aileron"/>
                <a:cs typeface="Aileron"/>
                <a:sym typeface="Aileron"/>
              </a:rPr>
              <a:t>Ensure scalability and potential integration with LMS platforms</a:t>
            </a:r>
          </a:p>
          <a:p>
            <a:pPr marL="0" lvl="0" indent="0" algn="l">
              <a:lnSpc>
                <a:spcPts val="3839"/>
              </a:lnSpc>
            </a:pPr>
            <a:endParaRPr lang="en-US" sz="3199" u="none" strike="noStrike">
              <a:solidFill>
                <a:srgbClr val="152047"/>
              </a:solidFill>
              <a:latin typeface="Aileron"/>
              <a:ea typeface="Aileron"/>
              <a:cs typeface="Aileron"/>
              <a:sym typeface="Aileron"/>
            </a:endParaRPr>
          </a:p>
        </p:txBody>
      </p:sp>
      <p:sp>
        <p:nvSpPr>
          <p:cNvPr id="8" name="AutoShape 8"/>
          <p:cNvSpPr/>
          <p:nvPr/>
        </p:nvSpPr>
        <p:spPr>
          <a:xfrm>
            <a:off x="8658214" y="3458469"/>
            <a:ext cx="16375695" cy="0"/>
          </a:xfrm>
          <a:prstGeom prst="line">
            <a:avLst/>
          </a:prstGeom>
          <a:ln w="9525" cap="flat">
            <a:gradFill>
              <a:gsLst>
                <a:gs pos="0">
                  <a:srgbClr val="101B3B">
                    <a:alpha val="63000"/>
                  </a:srgbClr>
                </a:gs>
                <a:gs pos="100000">
                  <a:srgbClr val="243472">
                    <a:alpha val="63000"/>
                  </a:srgbClr>
                </a:gs>
              </a:gsLst>
              <a:lin ang="0"/>
            </a:gradFill>
            <a:prstDash val="solid"/>
            <a:headEnd type="none" w="sm" len="sm"/>
            <a:tailEnd type="none" w="sm" len="sm"/>
          </a:ln>
        </p:spPr>
        <p:txBody>
          <a:bodyPr/>
          <a:lstStyle/>
          <a:p>
            <a:endParaRPr lang="LID4096"/>
          </a:p>
        </p:txBody>
      </p:sp>
      <p:sp>
        <p:nvSpPr>
          <p:cNvPr id="9" name="Freeform 9"/>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0878038" y="656262"/>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95964"/>
            <a:ext cx="14958117" cy="1973292"/>
          </a:xfrm>
          <a:prstGeom prst="rect">
            <a:avLst/>
          </a:prstGeom>
        </p:spPr>
        <p:txBody>
          <a:bodyPr lIns="0" tIns="0" rIns="0" bIns="0" rtlCol="0" anchor="t">
            <a:spAutoFit/>
          </a:bodyPr>
          <a:lstStyle/>
          <a:p>
            <a:pPr marL="0" lvl="0" indent="0" algn="l">
              <a:lnSpc>
                <a:spcPts val="15268"/>
              </a:lnSpc>
            </a:pPr>
            <a:r>
              <a:rPr lang="en-US" sz="14008" b="1" spc="-910">
                <a:solidFill>
                  <a:srgbClr val="152047"/>
                </a:solidFill>
                <a:latin typeface="Open Sauce Bold"/>
                <a:ea typeface="Open Sauce Bold"/>
                <a:cs typeface="Open Sauce Bold"/>
                <a:sym typeface="Open Sauce Bold"/>
              </a:rPr>
              <a:t>Key Innovation</a:t>
            </a:r>
          </a:p>
        </p:txBody>
      </p:sp>
      <p:sp>
        <p:nvSpPr>
          <p:cNvPr id="7" name="TextBox 7"/>
          <p:cNvSpPr txBox="1"/>
          <p:nvPr/>
        </p:nvSpPr>
        <p:spPr>
          <a:xfrm>
            <a:off x="1179093" y="4186590"/>
            <a:ext cx="5511732" cy="405765"/>
          </a:xfrm>
          <a:prstGeom prst="rect">
            <a:avLst/>
          </a:prstGeom>
        </p:spPr>
        <p:txBody>
          <a:bodyPr lIns="0" tIns="0" rIns="0" bIns="0" rtlCol="0" anchor="t">
            <a:spAutoFit/>
          </a:bodyPr>
          <a:lstStyle/>
          <a:p>
            <a:pPr marL="0" lvl="0" indent="0" algn="l">
              <a:lnSpc>
                <a:spcPts val="3030"/>
              </a:lnSpc>
            </a:pPr>
            <a:r>
              <a:rPr lang="en-US" sz="3000" b="1">
                <a:solidFill>
                  <a:srgbClr val="152047"/>
                </a:solidFill>
                <a:latin typeface="Aileron Bold"/>
                <a:ea typeface="Aileron Bold"/>
                <a:cs typeface="Aileron Bold"/>
                <a:sym typeface="Aileron Bold"/>
              </a:rPr>
              <a:t>Hybrid AI Approach</a:t>
            </a:r>
          </a:p>
        </p:txBody>
      </p:sp>
      <p:sp>
        <p:nvSpPr>
          <p:cNvPr id="8" name="TextBox 8"/>
          <p:cNvSpPr txBox="1"/>
          <p:nvPr/>
        </p:nvSpPr>
        <p:spPr>
          <a:xfrm>
            <a:off x="1179093" y="4855698"/>
            <a:ext cx="6375042" cy="723900"/>
          </a:xfrm>
          <a:prstGeom prst="rect">
            <a:avLst/>
          </a:prstGeom>
        </p:spPr>
        <p:txBody>
          <a:bodyPr lIns="0" tIns="0" rIns="0" bIns="0" rtlCol="0" anchor="t">
            <a:spAutoFit/>
          </a:bodyPr>
          <a:lstStyle/>
          <a:p>
            <a:pPr marL="0" lvl="0" indent="0" algn="l">
              <a:lnSpc>
                <a:spcPts val="2879"/>
              </a:lnSpc>
            </a:pPr>
            <a:r>
              <a:rPr lang="en-US" sz="2400">
                <a:solidFill>
                  <a:srgbClr val="152047"/>
                </a:solidFill>
                <a:latin typeface="Aileron"/>
                <a:ea typeface="Aileron"/>
                <a:cs typeface="Aileron"/>
                <a:sym typeface="Aileron"/>
              </a:rPr>
              <a:t>The system combines two complementary components:</a:t>
            </a:r>
          </a:p>
        </p:txBody>
      </p:sp>
      <p:sp>
        <p:nvSpPr>
          <p:cNvPr id="9" name="Freeform 9"/>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10" name="TextBox 10"/>
          <p:cNvSpPr txBox="1"/>
          <p:nvPr/>
        </p:nvSpPr>
        <p:spPr>
          <a:xfrm>
            <a:off x="1179093" y="6106893"/>
            <a:ext cx="5511732" cy="405765"/>
          </a:xfrm>
          <a:prstGeom prst="rect">
            <a:avLst/>
          </a:prstGeom>
        </p:spPr>
        <p:txBody>
          <a:bodyPr lIns="0" tIns="0" rIns="0" bIns="0" rtlCol="0" anchor="t">
            <a:spAutoFit/>
          </a:bodyPr>
          <a:lstStyle/>
          <a:p>
            <a:pPr algn="l">
              <a:lnSpc>
                <a:spcPts val="3030"/>
              </a:lnSpc>
            </a:pPr>
            <a:r>
              <a:rPr lang="en-US" sz="3000" b="1">
                <a:solidFill>
                  <a:srgbClr val="152047"/>
                </a:solidFill>
                <a:latin typeface="Aileron Bold"/>
                <a:ea typeface="Aileron Bold"/>
                <a:cs typeface="Aileron Bold"/>
                <a:sym typeface="Aileron Bold"/>
              </a:rPr>
              <a:t>Machine Learning Models</a:t>
            </a:r>
          </a:p>
        </p:txBody>
      </p:sp>
      <p:sp>
        <p:nvSpPr>
          <p:cNvPr id="11" name="TextBox 11"/>
          <p:cNvSpPr txBox="1"/>
          <p:nvPr/>
        </p:nvSpPr>
        <p:spPr>
          <a:xfrm>
            <a:off x="1179093" y="6988908"/>
            <a:ext cx="5094941" cy="1809750"/>
          </a:xfrm>
          <a:prstGeom prst="rect">
            <a:avLst/>
          </a:prstGeom>
        </p:spPr>
        <p:txBody>
          <a:bodyPr lIns="0" tIns="0" rIns="0" bIns="0" rtlCol="0" anchor="t">
            <a:spAutoFit/>
          </a:bodyPr>
          <a:lstStyle/>
          <a:p>
            <a:pPr marL="518160" lvl="1" indent="-259080" algn="l">
              <a:lnSpc>
                <a:spcPts val="2879"/>
              </a:lnSpc>
              <a:buFont typeface="Arial"/>
              <a:buChar char="•"/>
            </a:pPr>
            <a:r>
              <a:rPr lang="en-US" sz="2400">
                <a:solidFill>
                  <a:srgbClr val="152047"/>
                </a:solidFill>
                <a:latin typeface="Aileron"/>
                <a:ea typeface="Aileron"/>
                <a:cs typeface="Aileron"/>
                <a:sym typeface="Aileron"/>
              </a:rPr>
              <a:t>Learn patterns from historical data</a:t>
            </a:r>
          </a:p>
          <a:p>
            <a:pPr marL="518160" lvl="1" indent="-259080" algn="l">
              <a:lnSpc>
                <a:spcPts val="2879"/>
              </a:lnSpc>
              <a:buFont typeface="Arial"/>
              <a:buChar char="•"/>
            </a:pPr>
            <a:r>
              <a:rPr lang="en-US" sz="2400">
                <a:solidFill>
                  <a:srgbClr val="152047"/>
                </a:solidFill>
                <a:latin typeface="Aileron"/>
                <a:ea typeface="Aileron"/>
                <a:cs typeface="Aileron"/>
                <a:sym typeface="Aileron"/>
              </a:rPr>
              <a:t>Generate probability of student failure</a:t>
            </a:r>
          </a:p>
          <a:p>
            <a:pPr marL="0" lvl="0" indent="0" algn="l">
              <a:lnSpc>
                <a:spcPts val="2879"/>
              </a:lnSpc>
            </a:pPr>
            <a:endParaRPr lang="en-US" sz="2400">
              <a:solidFill>
                <a:srgbClr val="152047"/>
              </a:solidFill>
              <a:latin typeface="Aileron"/>
              <a:ea typeface="Aileron"/>
              <a:cs typeface="Aileron"/>
              <a:sym typeface="Aileron"/>
            </a:endParaRPr>
          </a:p>
        </p:txBody>
      </p:sp>
      <p:sp>
        <p:nvSpPr>
          <p:cNvPr id="12" name="TextBox 12"/>
          <p:cNvSpPr txBox="1"/>
          <p:nvPr/>
        </p:nvSpPr>
        <p:spPr>
          <a:xfrm>
            <a:off x="7554135" y="6988908"/>
            <a:ext cx="6375042" cy="1447800"/>
          </a:xfrm>
          <a:prstGeom prst="rect">
            <a:avLst/>
          </a:prstGeom>
        </p:spPr>
        <p:txBody>
          <a:bodyPr lIns="0" tIns="0" rIns="0" bIns="0" rtlCol="0" anchor="t">
            <a:spAutoFit/>
          </a:bodyPr>
          <a:lstStyle/>
          <a:p>
            <a:pPr marL="518160" lvl="1" indent="-259080" algn="l">
              <a:lnSpc>
                <a:spcPts val="2879"/>
              </a:lnSpc>
              <a:buFont typeface="Arial"/>
              <a:buChar char="•"/>
            </a:pPr>
            <a:r>
              <a:rPr lang="en-US" sz="2400">
                <a:solidFill>
                  <a:srgbClr val="152047"/>
                </a:solidFill>
                <a:latin typeface="Aileron"/>
                <a:ea typeface="Aileron"/>
                <a:cs typeface="Aileron"/>
                <a:sym typeface="Aileron"/>
              </a:rPr>
              <a:t>Uses academic logic such as quiz trends and thresholds</a:t>
            </a:r>
          </a:p>
          <a:p>
            <a:pPr marL="518160" lvl="1" indent="-259080" algn="l">
              <a:lnSpc>
                <a:spcPts val="2879"/>
              </a:lnSpc>
              <a:buFont typeface="Arial"/>
              <a:buChar char="•"/>
            </a:pPr>
            <a:r>
              <a:rPr lang="en-US" sz="2400">
                <a:solidFill>
                  <a:srgbClr val="152047"/>
                </a:solidFill>
                <a:latin typeface="Aileron"/>
                <a:ea typeface="Aileron"/>
                <a:cs typeface="Aileron"/>
                <a:sym typeface="Aileron"/>
              </a:rPr>
              <a:t>Provides interpretable reasoning</a:t>
            </a:r>
          </a:p>
          <a:p>
            <a:pPr marL="0" lvl="0" indent="0" algn="l">
              <a:lnSpc>
                <a:spcPts val="2879"/>
              </a:lnSpc>
            </a:pPr>
            <a:endParaRPr lang="en-US" sz="2400">
              <a:solidFill>
                <a:srgbClr val="152047"/>
              </a:solidFill>
              <a:latin typeface="Aileron"/>
              <a:ea typeface="Aileron"/>
              <a:cs typeface="Aileron"/>
              <a:sym typeface="Aileron"/>
            </a:endParaRPr>
          </a:p>
        </p:txBody>
      </p:sp>
      <p:sp>
        <p:nvSpPr>
          <p:cNvPr id="13" name="TextBox 13"/>
          <p:cNvSpPr txBox="1"/>
          <p:nvPr/>
        </p:nvSpPr>
        <p:spPr>
          <a:xfrm>
            <a:off x="7985791" y="6106893"/>
            <a:ext cx="5511732" cy="405765"/>
          </a:xfrm>
          <a:prstGeom prst="rect">
            <a:avLst/>
          </a:prstGeom>
        </p:spPr>
        <p:txBody>
          <a:bodyPr lIns="0" tIns="0" rIns="0" bIns="0" rtlCol="0" anchor="t">
            <a:spAutoFit/>
          </a:bodyPr>
          <a:lstStyle/>
          <a:p>
            <a:pPr algn="l">
              <a:lnSpc>
                <a:spcPts val="3030"/>
              </a:lnSpc>
            </a:pPr>
            <a:r>
              <a:rPr lang="en-US" sz="3000" b="1">
                <a:solidFill>
                  <a:srgbClr val="152047"/>
                </a:solidFill>
                <a:latin typeface="Aileron Bold"/>
                <a:ea typeface="Aileron Bold"/>
                <a:cs typeface="Aileron Bold"/>
                <a:sym typeface="Aileron Bold"/>
              </a:rPr>
              <a:t>Rule Based Risk Engine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577481" y="461911"/>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95964"/>
            <a:ext cx="14958117" cy="1973292"/>
          </a:xfrm>
          <a:prstGeom prst="rect">
            <a:avLst/>
          </a:prstGeom>
        </p:spPr>
        <p:txBody>
          <a:bodyPr lIns="0" tIns="0" rIns="0" bIns="0" rtlCol="0" anchor="t">
            <a:spAutoFit/>
          </a:bodyPr>
          <a:lstStyle/>
          <a:p>
            <a:pPr marL="0" lvl="0" indent="0" algn="l">
              <a:lnSpc>
                <a:spcPts val="15268"/>
              </a:lnSpc>
            </a:pPr>
            <a:r>
              <a:rPr lang="en-US" sz="14008" b="1" spc="-910">
                <a:solidFill>
                  <a:srgbClr val="152047"/>
                </a:solidFill>
                <a:latin typeface="Open Sauce Bold"/>
                <a:ea typeface="Open Sauce Bold"/>
                <a:cs typeface="Open Sauce Bold"/>
                <a:sym typeface="Open Sauce Bold"/>
              </a:rPr>
              <a:t>Why Hybrid?</a:t>
            </a:r>
          </a:p>
        </p:txBody>
      </p:sp>
      <p:sp>
        <p:nvSpPr>
          <p:cNvPr id="7" name="TextBox 7"/>
          <p:cNvSpPr txBox="1"/>
          <p:nvPr/>
        </p:nvSpPr>
        <p:spPr>
          <a:xfrm>
            <a:off x="1028700" y="4491290"/>
            <a:ext cx="8876830" cy="2095500"/>
          </a:xfrm>
          <a:prstGeom prst="rect">
            <a:avLst/>
          </a:prstGeom>
        </p:spPr>
        <p:txBody>
          <a:bodyPr lIns="0" tIns="0" rIns="0" bIns="0" rtlCol="0" anchor="t">
            <a:spAutoFit/>
          </a:bodyPr>
          <a:lstStyle/>
          <a:p>
            <a:pPr algn="l">
              <a:lnSpc>
                <a:spcPts val="3359"/>
              </a:lnSpc>
            </a:pPr>
            <a:r>
              <a:rPr lang="en-US" sz="2799">
                <a:solidFill>
                  <a:srgbClr val="152047"/>
                </a:solidFill>
                <a:latin typeface="Aileron"/>
                <a:ea typeface="Aileron"/>
                <a:cs typeface="Aileron"/>
                <a:sym typeface="Aileron"/>
              </a:rPr>
              <a:t>ML alone - high performance but lacks transparency</a:t>
            </a:r>
          </a:p>
          <a:p>
            <a:pPr algn="l">
              <a:lnSpc>
                <a:spcPts val="3359"/>
              </a:lnSpc>
            </a:pPr>
            <a:endParaRPr lang="en-US" sz="2799">
              <a:solidFill>
                <a:srgbClr val="152047"/>
              </a:solidFill>
              <a:latin typeface="Aileron"/>
              <a:ea typeface="Aileron"/>
              <a:cs typeface="Aileron"/>
              <a:sym typeface="Aileron"/>
            </a:endParaRPr>
          </a:p>
          <a:p>
            <a:pPr algn="l">
              <a:lnSpc>
                <a:spcPts val="3359"/>
              </a:lnSpc>
            </a:pPr>
            <a:r>
              <a:rPr lang="en-US" sz="2799">
                <a:solidFill>
                  <a:srgbClr val="152047"/>
                </a:solidFill>
                <a:latin typeface="Aileron"/>
                <a:ea typeface="Aileron"/>
                <a:cs typeface="Aileron"/>
                <a:sym typeface="Aileron"/>
              </a:rPr>
              <a:t>Rule-based systems - interpretable but limited in complexity</a:t>
            </a:r>
          </a:p>
          <a:p>
            <a:pPr marL="0" lvl="0" indent="0" algn="l">
              <a:lnSpc>
                <a:spcPts val="3359"/>
              </a:lnSpc>
            </a:pPr>
            <a:endParaRPr lang="en-US" sz="2799">
              <a:solidFill>
                <a:srgbClr val="152047"/>
              </a:solidFill>
              <a:latin typeface="Aileron"/>
              <a:ea typeface="Aileron"/>
              <a:cs typeface="Aileron"/>
              <a:sym typeface="Aileron"/>
            </a:endParaRPr>
          </a:p>
        </p:txBody>
      </p:sp>
      <p:sp>
        <p:nvSpPr>
          <p:cNvPr id="8" name="Freeform 8"/>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9" name="TextBox 9"/>
          <p:cNvSpPr txBox="1"/>
          <p:nvPr/>
        </p:nvSpPr>
        <p:spPr>
          <a:xfrm>
            <a:off x="1028700" y="6634415"/>
            <a:ext cx="5511732" cy="405765"/>
          </a:xfrm>
          <a:prstGeom prst="rect">
            <a:avLst/>
          </a:prstGeom>
        </p:spPr>
        <p:txBody>
          <a:bodyPr lIns="0" tIns="0" rIns="0" bIns="0" rtlCol="0" anchor="t">
            <a:spAutoFit/>
          </a:bodyPr>
          <a:lstStyle/>
          <a:p>
            <a:pPr algn="l">
              <a:lnSpc>
                <a:spcPts val="3030"/>
              </a:lnSpc>
            </a:pPr>
            <a:r>
              <a:rPr lang="en-US" sz="3000" b="1">
                <a:solidFill>
                  <a:srgbClr val="152047"/>
                </a:solidFill>
                <a:latin typeface="Aileron Bold"/>
                <a:ea typeface="Aileron Bold"/>
                <a:cs typeface="Aileron Bold"/>
                <a:sym typeface="Aileron Bold"/>
              </a:rPr>
              <a:t>Hybrid Approach Ensures:</a:t>
            </a:r>
          </a:p>
        </p:txBody>
      </p:sp>
      <p:sp>
        <p:nvSpPr>
          <p:cNvPr id="10" name="TextBox 10"/>
          <p:cNvSpPr txBox="1"/>
          <p:nvPr/>
        </p:nvSpPr>
        <p:spPr>
          <a:xfrm>
            <a:off x="1028700" y="7394601"/>
            <a:ext cx="8876830" cy="2095500"/>
          </a:xfrm>
          <a:prstGeom prst="rect">
            <a:avLst/>
          </a:prstGeom>
        </p:spPr>
        <p:txBody>
          <a:bodyPr lIns="0" tIns="0" rIns="0" bIns="0" rtlCol="0" anchor="t">
            <a:spAutoFit/>
          </a:bodyPr>
          <a:lstStyle/>
          <a:p>
            <a:pPr marL="604519" lvl="1" indent="-302260" algn="l">
              <a:lnSpc>
                <a:spcPts val="3359"/>
              </a:lnSpc>
              <a:buFont typeface="Arial"/>
              <a:buChar char="•"/>
            </a:pPr>
            <a:r>
              <a:rPr lang="en-US" sz="2799">
                <a:solidFill>
                  <a:srgbClr val="152047"/>
                </a:solidFill>
                <a:latin typeface="Aileron"/>
                <a:ea typeface="Aileron"/>
                <a:cs typeface="Aileron"/>
                <a:sym typeface="Aileron"/>
              </a:rPr>
              <a:t>Improved prediction accuracy</a:t>
            </a:r>
          </a:p>
          <a:p>
            <a:pPr marL="604519" lvl="1" indent="-302260" algn="l">
              <a:lnSpc>
                <a:spcPts val="3359"/>
              </a:lnSpc>
              <a:buFont typeface="Arial"/>
              <a:buChar char="•"/>
            </a:pPr>
            <a:r>
              <a:rPr lang="en-US" sz="2799">
                <a:solidFill>
                  <a:srgbClr val="152047"/>
                </a:solidFill>
                <a:latin typeface="Aileron"/>
                <a:ea typeface="Aileron"/>
                <a:cs typeface="Aileron"/>
                <a:sym typeface="Aileron"/>
              </a:rPr>
              <a:t>Greater interpretability</a:t>
            </a:r>
          </a:p>
          <a:p>
            <a:pPr marL="604519" lvl="1" indent="-302260" algn="l">
              <a:lnSpc>
                <a:spcPts val="3359"/>
              </a:lnSpc>
              <a:buFont typeface="Arial"/>
              <a:buChar char="•"/>
            </a:pPr>
            <a:r>
              <a:rPr lang="en-US" sz="2799">
                <a:solidFill>
                  <a:srgbClr val="152047"/>
                </a:solidFill>
                <a:latin typeface="Aileron"/>
                <a:ea typeface="Aileron"/>
                <a:cs typeface="Aileron"/>
                <a:sym typeface="Aileron"/>
              </a:rPr>
              <a:t>Increased trust and usability in academic environments</a:t>
            </a:r>
          </a:p>
          <a:p>
            <a:pPr marL="0" lvl="0" indent="0" algn="l">
              <a:lnSpc>
                <a:spcPts val="3359"/>
              </a:lnSpc>
            </a:pPr>
            <a:endParaRPr lang="en-US" sz="2799">
              <a:solidFill>
                <a:srgbClr val="152047"/>
              </a:solidFill>
              <a:latin typeface="Aileron"/>
              <a:ea typeface="Aileron"/>
              <a:cs typeface="Aileron"/>
              <a:sym typeface="Ailero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577481" y="461911"/>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67389"/>
            <a:ext cx="14958117" cy="3358515"/>
          </a:xfrm>
          <a:prstGeom prst="rect">
            <a:avLst/>
          </a:prstGeom>
        </p:spPr>
        <p:txBody>
          <a:bodyPr lIns="0" tIns="0" rIns="0" bIns="0" rtlCol="0" anchor="t">
            <a:spAutoFit/>
          </a:bodyPr>
          <a:lstStyle/>
          <a:p>
            <a:pPr marL="0" lvl="0" indent="0" algn="l">
              <a:lnSpc>
                <a:spcPts val="13080"/>
              </a:lnSpc>
            </a:pPr>
            <a:r>
              <a:rPr lang="en-US" sz="12000" b="1" spc="-780">
                <a:solidFill>
                  <a:srgbClr val="152047"/>
                </a:solidFill>
                <a:latin typeface="Open Sauce Bold"/>
                <a:ea typeface="Open Sauce Bold"/>
                <a:cs typeface="Open Sauce Bold"/>
                <a:sym typeface="Open Sauce Bold"/>
              </a:rPr>
              <a:t>System Engineering Approach</a:t>
            </a:r>
          </a:p>
        </p:txBody>
      </p:sp>
      <p:sp>
        <p:nvSpPr>
          <p:cNvPr id="7" name="Freeform 7"/>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8" name="TextBox 8"/>
          <p:cNvSpPr txBox="1"/>
          <p:nvPr/>
        </p:nvSpPr>
        <p:spPr>
          <a:xfrm>
            <a:off x="1028700" y="4964430"/>
            <a:ext cx="8876830" cy="405765"/>
          </a:xfrm>
          <a:prstGeom prst="rect">
            <a:avLst/>
          </a:prstGeom>
        </p:spPr>
        <p:txBody>
          <a:bodyPr lIns="0" tIns="0" rIns="0" bIns="0" rtlCol="0" anchor="t">
            <a:spAutoFit/>
          </a:bodyPr>
          <a:lstStyle/>
          <a:p>
            <a:pPr algn="l">
              <a:lnSpc>
                <a:spcPts val="3030"/>
              </a:lnSpc>
            </a:pPr>
            <a:r>
              <a:rPr lang="en-US" sz="3000" b="1">
                <a:solidFill>
                  <a:srgbClr val="152047"/>
                </a:solidFill>
                <a:latin typeface="Aileron Bold"/>
                <a:ea typeface="Aileron Bold"/>
                <a:cs typeface="Aileron Bold"/>
                <a:sym typeface="Aileron Bold"/>
              </a:rPr>
              <a:t>System Engineering Product Life Cycle</a:t>
            </a:r>
          </a:p>
        </p:txBody>
      </p:sp>
      <p:sp>
        <p:nvSpPr>
          <p:cNvPr id="9" name="TextBox 9"/>
          <p:cNvSpPr txBox="1"/>
          <p:nvPr/>
        </p:nvSpPr>
        <p:spPr>
          <a:xfrm>
            <a:off x="1028700" y="5893707"/>
            <a:ext cx="12097489" cy="3524631"/>
          </a:xfrm>
          <a:prstGeom prst="rect">
            <a:avLst/>
          </a:prstGeom>
        </p:spPr>
        <p:txBody>
          <a:bodyPr lIns="0" tIns="0" rIns="0" bIns="0" rtlCol="0" anchor="t">
            <a:spAutoFit/>
          </a:bodyPr>
          <a:lstStyle/>
          <a:p>
            <a:pPr marL="626109" lvl="1" indent="-313054" algn="just">
              <a:lnSpc>
                <a:spcPts val="4001"/>
              </a:lnSpc>
              <a:buFont typeface="Arial"/>
              <a:buChar char="•"/>
            </a:pPr>
            <a:r>
              <a:rPr lang="en-US" sz="2899">
                <a:solidFill>
                  <a:srgbClr val="152047"/>
                </a:solidFill>
                <a:latin typeface="Aileron"/>
                <a:ea typeface="Aileron"/>
                <a:cs typeface="Aileron"/>
                <a:sym typeface="Aileron"/>
              </a:rPr>
              <a:t>Problem Formulation → Identifying delayed risk detection</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Concept Development → Hybrid AI approach selected</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System Design → Modular architecture defined</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Prototype Development → CLI-based AI system</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Final System Integration → Full dashboard + database</a:t>
            </a:r>
          </a:p>
          <a:p>
            <a:pPr algn="just">
              <a:lnSpc>
                <a:spcPts val="4001"/>
              </a:lnSpc>
            </a:pPr>
            <a:r>
              <a:rPr lang="en-US" sz="2899">
                <a:solidFill>
                  <a:srgbClr val="152047"/>
                </a:solidFill>
                <a:latin typeface="Aileron"/>
                <a:ea typeface="Aileron"/>
                <a:cs typeface="Aileron"/>
                <a:sym typeface="Aileron"/>
              </a:rPr>
              <a:t>Ensures system is built as a complete solution, not just a model</a:t>
            </a:r>
          </a:p>
          <a:p>
            <a:pPr marL="0" lvl="0" indent="0" algn="just">
              <a:lnSpc>
                <a:spcPts val="4001"/>
              </a:lnSpc>
            </a:pPr>
            <a:endParaRPr lang="en-US" sz="2899">
              <a:solidFill>
                <a:srgbClr val="152047"/>
              </a:solidFill>
              <a:latin typeface="Aileron"/>
              <a:ea typeface="Aileron"/>
              <a:cs typeface="Aileron"/>
              <a:sym typeface="Ailero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4812711" y="732175"/>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585273"/>
            <a:ext cx="16230600" cy="1544445"/>
          </a:xfrm>
          <a:prstGeom prst="rect">
            <a:avLst/>
          </a:prstGeom>
        </p:spPr>
        <p:txBody>
          <a:bodyPr lIns="0" tIns="0" rIns="0" bIns="0" rtlCol="0" anchor="t">
            <a:spAutoFit/>
          </a:bodyPr>
          <a:lstStyle/>
          <a:p>
            <a:pPr marL="0" lvl="0" indent="0" algn="l">
              <a:lnSpc>
                <a:spcPts val="11999"/>
              </a:lnSpc>
            </a:pPr>
            <a:r>
              <a:rPr lang="en-US" sz="11008" b="1" spc="-715">
                <a:solidFill>
                  <a:srgbClr val="F8F6F7"/>
                </a:solidFill>
                <a:latin typeface="Open Sauce Bold"/>
                <a:ea typeface="Open Sauce Bold"/>
                <a:cs typeface="Open Sauce Bold"/>
                <a:sym typeface="Open Sauce Bold"/>
              </a:rPr>
              <a:t>Prototype vs Final System</a:t>
            </a:r>
          </a:p>
        </p:txBody>
      </p:sp>
      <p:sp>
        <p:nvSpPr>
          <p:cNvPr id="7" name="TextBox 7"/>
          <p:cNvSpPr txBox="1"/>
          <p:nvPr/>
        </p:nvSpPr>
        <p:spPr>
          <a:xfrm>
            <a:off x="1028700" y="3476625"/>
            <a:ext cx="7105530" cy="7122795"/>
          </a:xfrm>
          <a:prstGeom prst="rect">
            <a:avLst/>
          </a:prstGeom>
        </p:spPr>
        <p:txBody>
          <a:bodyPr lIns="0" tIns="0" rIns="0" bIns="0" rtlCol="0" anchor="t">
            <a:spAutoFit/>
          </a:bodyPr>
          <a:lstStyle/>
          <a:p>
            <a:pPr algn="l">
              <a:lnSpc>
                <a:spcPts val="3779"/>
              </a:lnSpc>
            </a:pPr>
            <a:r>
              <a:rPr lang="en-US" sz="2699">
                <a:solidFill>
                  <a:srgbClr val="F8F6F7"/>
                </a:solidFill>
                <a:latin typeface="Aileron"/>
                <a:ea typeface="Aileron"/>
                <a:cs typeface="Aileron"/>
                <a:sym typeface="Aileron"/>
              </a:rPr>
              <a:t>Prototype System (Assignment 1)</a:t>
            </a:r>
          </a:p>
          <a:p>
            <a:pPr marL="582928" lvl="1" indent="-291464" algn="l">
              <a:lnSpc>
                <a:spcPts val="3779"/>
              </a:lnSpc>
              <a:buFont typeface="Arial"/>
              <a:buChar char="•"/>
            </a:pPr>
            <a:r>
              <a:rPr lang="en-US" sz="2699">
                <a:solidFill>
                  <a:srgbClr val="F8F6F7"/>
                </a:solidFill>
                <a:latin typeface="Aileron"/>
                <a:ea typeface="Aileron"/>
                <a:cs typeface="Aileron"/>
                <a:sym typeface="Aileron"/>
              </a:rPr>
              <a:t>Implemented as a command-line application</a:t>
            </a:r>
          </a:p>
          <a:p>
            <a:pPr marL="582928" lvl="1" indent="-291464" algn="l">
              <a:lnSpc>
                <a:spcPts val="3779"/>
              </a:lnSpc>
              <a:buFont typeface="Arial"/>
              <a:buChar char="•"/>
            </a:pPr>
            <a:r>
              <a:rPr lang="en-US" sz="2699">
                <a:solidFill>
                  <a:srgbClr val="F8F6F7"/>
                </a:solidFill>
                <a:latin typeface="Aileron"/>
                <a:ea typeface="Aileron"/>
                <a:cs typeface="Aileron"/>
                <a:sym typeface="Aileron"/>
              </a:rPr>
              <a:t>Focused on core AI components such as:</a:t>
            </a:r>
          </a:p>
          <a:p>
            <a:pPr marL="1165857" lvl="2" indent="-388619" algn="l">
              <a:lnSpc>
                <a:spcPts val="3779"/>
              </a:lnSpc>
              <a:buFont typeface="Arial"/>
              <a:buChar char="⚬"/>
            </a:pPr>
            <a:r>
              <a:rPr lang="en-US" sz="2699">
                <a:solidFill>
                  <a:srgbClr val="F8F6F7"/>
                </a:solidFill>
                <a:latin typeface="Aileron"/>
                <a:ea typeface="Aileron"/>
                <a:cs typeface="Aileron"/>
                <a:sym typeface="Aileron"/>
              </a:rPr>
              <a:t>Quiz trend analysis</a:t>
            </a:r>
          </a:p>
          <a:p>
            <a:pPr marL="1165857" lvl="2" indent="-388619" algn="l">
              <a:lnSpc>
                <a:spcPts val="3779"/>
              </a:lnSpc>
              <a:buFont typeface="Arial"/>
              <a:buChar char="⚬"/>
            </a:pPr>
            <a:r>
              <a:rPr lang="en-US" sz="2699">
                <a:solidFill>
                  <a:srgbClr val="F8F6F7"/>
                </a:solidFill>
                <a:latin typeface="Aileron"/>
                <a:ea typeface="Aileron"/>
                <a:cs typeface="Aileron"/>
                <a:sym typeface="Aileron"/>
              </a:rPr>
              <a:t>Machine learning classification</a:t>
            </a:r>
          </a:p>
          <a:p>
            <a:pPr marL="582928" lvl="1" indent="-291464" algn="l">
              <a:lnSpc>
                <a:spcPts val="3779"/>
              </a:lnSpc>
              <a:buFont typeface="Arial"/>
              <a:buChar char="•"/>
            </a:pPr>
            <a:r>
              <a:rPr lang="en-US" sz="2699">
                <a:solidFill>
                  <a:srgbClr val="F8F6F7"/>
                </a:solidFill>
                <a:latin typeface="Aileron"/>
                <a:ea typeface="Aileron"/>
                <a:cs typeface="Aileron"/>
                <a:sym typeface="Aileron"/>
              </a:rPr>
              <a:t>Output generated in textual and JSON formats</a:t>
            </a:r>
          </a:p>
          <a:p>
            <a:pPr algn="l">
              <a:lnSpc>
                <a:spcPts val="3779"/>
              </a:lnSpc>
            </a:pPr>
            <a:endParaRPr lang="en-US" sz="2699">
              <a:solidFill>
                <a:srgbClr val="F8F6F7"/>
              </a:solidFill>
              <a:latin typeface="Aileron"/>
              <a:ea typeface="Aileron"/>
              <a:cs typeface="Aileron"/>
              <a:sym typeface="Aileron"/>
            </a:endParaRPr>
          </a:p>
          <a:p>
            <a:pPr algn="l">
              <a:lnSpc>
                <a:spcPts val="3779"/>
              </a:lnSpc>
            </a:pPr>
            <a:r>
              <a:rPr lang="en-US" sz="2699">
                <a:solidFill>
                  <a:srgbClr val="F8F6F7"/>
                </a:solidFill>
                <a:latin typeface="Aileron"/>
                <a:ea typeface="Aileron"/>
                <a:cs typeface="Aileron"/>
                <a:sym typeface="Aileron"/>
              </a:rPr>
              <a:t>Limitations of Prototype</a:t>
            </a:r>
          </a:p>
          <a:p>
            <a:pPr marL="582928" lvl="1" indent="-291464" algn="l">
              <a:lnSpc>
                <a:spcPts val="3779"/>
              </a:lnSpc>
              <a:buFont typeface="Arial"/>
              <a:buChar char="•"/>
            </a:pPr>
            <a:r>
              <a:rPr lang="en-US" sz="2699">
                <a:solidFill>
                  <a:srgbClr val="F8F6F7"/>
                </a:solidFill>
                <a:latin typeface="Aileron"/>
                <a:ea typeface="Aileron"/>
                <a:cs typeface="Aileron"/>
                <a:sym typeface="Aileron"/>
              </a:rPr>
              <a:t>No persistent data storage</a:t>
            </a:r>
          </a:p>
          <a:p>
            <a:pPr marL="582928" lvl="1" indent="-291464" algn="l">
              <a:lnSpc>
                <a:spcPts val="3779"/>
              </a:lnSpc>
              <a:buFont typeface="Arial"/>
              <a:buChar char="•"/>
            </a:pPr>
            <a:r>
              <a:rPr lang="en-US" sz="2699">
                <a:solidFill>
                  <a:srgbClr val="F8F6F7"/>
                </a:solidFill>
                <a:latin typeface="Aileron"/>
                <a:ea typeface="Aileron"/>
                <a:cs typeface="Aileron"/>
                <a:sym typeface="Aileron"/>
              </a:rPr>
              <a:t>Limited user interaction</a:t>
            </a:r>
          </a:p>
          <a:p>
            <a:pPr marL="582928" lvl="1" indent="-291464" algn="l">
              <a:lnSpc>
                <a:spcPts val="3779"/>
              </a:lnSpc>
              <a:buFont typeface="Arial"/>
              <a:buChar char="•"/>
            </a:pPr>
            <a:r>
              <a:rPr lang="en-US" sz="2699">
                <a:solidFill>
                  <a:srgbClr val="F8F6F7"/>
                </a:solidFill>
                <a:latin typeface="Aileron"/>
                <a:ea typeface="Aileron"/>
                <a:cs typeface="Aileron"/>
                <a:sym typeface="Aileron"/>
              </a:rPr>
              <a:t>No system integration</a:t>
            </a:r>
          </a:p>
          <a:p>
            <a:pPr algn="l">
              <a:lnSpc>
                <a:spcPts val="3779"/>
              </a:lnSpc>
            </a:pPr>
            <a:endParaRPr lang="en-US" sz="2699">
              <a:solidFill>
                <a:srgbClr val="F8F6F7"/>
              </a:solidFill>
              <a:latin typeface="Aileron"/>
              <a:ea typeface="Aileron"/>
              <a:cs typeface="Aileron"/>
              <a:sym typeface="Aileron"/>
            </a:endParaRPr>
          </a:p>
          <a:p>
            <a:pPr marL="0" lvl="0" indent="0" algn="l">
              <a:lnSpc>
                <a:spcPts val="3779"/>
              </a:lnSpc>
            </a:pPr>
            <a:endParaRPr lang="en-US" sz="2699">
              <a:solidFill>
                <a:srgbClr val="F8F6F7"/>
              </a:solidFill>
              <a:latin typeface="Aileron"/>
              <a:ea typeface="Aileron"/>
              <a:cs typeface="Aileron"/>
              <a:sym typeface="Aileron"/>
            </a:endParaRPr>
          </a:p>
        </p:txBody>
      </p:sp>
      <p:sp>
        <p:nvSpPr>
          <p:cNvPr id="8" name="Freeform 8"/>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9" name="TextBox 9"/>
          <p:cNvSpPr txBox="1"/>
          <p:nvPr/>
        </p:nvSpPr>
        <p:spPr>
          <a:xfrm>
            <a:off x="9285427" y="3564255"/>
            <a:ext cx="8105045" cy="5694045"/>
          </a:xfrm>
          <a:prstGeom prst="rect">
            <a:avLst/>
          </a:prstGeom>
        </p:spPr>
        <p:txBody>
          <a:bodyPr lIns="0" tIns="0" rIns="0" bIns="0" rtlCol="0" anchor="t">
            <a:spAutoFit/>
          </a:bodyPr>
          <a:lstStyle/>
          <a:p>
            <a:pPr algn="l">
              <a:lnSpc>
                <a:spcPts val="3779"/>
              </a:lnSpc>
            </a:pPr>
            <a:r>
              <a:rPr lang="en-US" sz="2699">
                <a:solidFill>
                  <a:srgbClr val="F8F6F7"/>
                </a:solidFill>
                <a:latin typeface="Aileron"/>
                <a:ea typeface="Aileron"/>
                <a:cs typeface="Aileron"/>
                <a:sym typeface="Aileron"/>
              </a:rPr>
              <a:t>Final System Enhancements</a:t>
            </a:r>
          </a:p>
          <a:p>
            <a:pPr marL="582928" lvl="1" indent="-291464" algn="l">
              <a:lnSpc>
                <a:spcPts val="3779"/>
              </a:lnSpc>
              <a:buFont typeface="Arial"/>
              <a:buChar char="•"/>
            </a:pPr>
            <a:r>
              <a:rPr lang="en-US" sz="2699">
                <a:solidFill>
                  <a:srgbClr val="F8F6F7"/>
                </a:solidFill>
                <a:latin typeface="Aileron"/>
                <a:ea typeface="Aileron"/>
                <a:cs typeface="Aileron"/>
                <a:sym typeface="Aileron"/>
              </a:rPr>
              <a:t>Fully developed Flask web application</a:t>
            </a:r>
          </a:p>
          <a:p>
            <a:pPr marL="582928" lvl="1" indent="-291464" algn="l">
              <a:lnSpc>
                <a:spcPts val="3779"/>
              </a:lnSpc>
              <a:buFont typeface="Arial"/>
              <a:buChar char="•"/>
            </a:pPr>
            <a:r>
              <a:rPr lang="en-US" sz="2699">
                <a:solidFill>
                  <a:srgbClr val="F8F6F7"/>
                </a:solidFill>
                <a:latin typeface="Aileron"/>
                <a:ea typeface="Aileron"/>
                <a:cs typeface="Aileron"/>
                <a:sym typeface="Aileron"/>
              </a:rPr>
              <a:t>Integration with SQLite database for persistence</a:t>
            </a:r>
          </a:p>
          <a:p>
            <a:pPr marL="582928" lvl="1" indent="-291464" algn="l">
              <a:lnSpc>
                <a:spcPts val="3779"/>
              </a:lnSpc>
              <a:buFont typeface="Arial"/>
              <a:buChar char="•"/>
            </a:pPr>
            <a:r>
              <a:rPr lang="en-US" sz="2699">
                <a:solidFill>
                  <a:srgbClr val="F8F6F7"/>
                </a:solidFill>
                <a:latin typeface="Aileron"/>
                <a:ea typeface="Aileron"/>
                <a:cs typeface="Aileron"/>
                <a:sym typeface="Aileron"/>
              </a:rPr>
              <a:t>Role-based access (staff and student portals)</a:t>
            </a:r>
          </a:p>
          <a:p>
            <a:pPr marL="582928" lvl="1" indent="-291464" algn="l">
              <a:lnSpc>
                <a:spcPts val="3779"/>
              </a:lnSpc>
              <a:buFont typeface="Arial"/>
              <a:buChar char="•"/>
            </a:pPr>
            <a:r>
              <a:rPr lang="en-US" sz="2699">
                <a:solidFill>
                  <a:srgbClr val="F8F6F7"/>
                </a:solidFill>
                <a:latin typeface="Aileron"/>
                <a:ea typeface="Aileron"/>
                <a:cs typeface="Aileron"/>
                <a:sym typeface="Aileron"/>
              </a:rPr>
              <a:t>Automated pipeline for preprocessing, training, and prediction</a:t>
            </a:r>
          </a:p>
          <a:p>
            <a:pPr marL="582928" lvl="1" indent="-291464" algn="l">
              <a:lnSpc>
                <a:spcPts val="3779"/>
              </a:lnSpc>
              <a:buFont typeface="Arial"/>
              <a:buChar char="•"/>
            </a:pPr>
            <a:r>
              <a:rPr lang="en-US" sz="2699">
                <a:solidFill>
                  <a:srgbClr val="F8F6F7"/>
                </a:solidFill>
                <a:latin typeface="Aileron"/>
                <a:ea typeface="Aileron"/>
                <a:cs typeface="Aileron"/>
                <a:sym typeface="Aileron"/>
              </a:rPr>
              <a:t>Real-time dashboard for visualisation and analysis</a:t>
            </a:r>
          </a:p>
          <a:p>
            <a:pPr algn="l">
              <a:lnSpc>
                <a:spcPts val="3779"/>
              </a:lnSpc>
            </a:pPr>
            <a:endParaRPr lang="en-US" sz="2699">
              <a:solidFill>
                <a:srgbClr val="F8F6F7"/>
              </a:solidFill>
              <a:latin typeface="Aileron"/>
              <a:ea typeface="Aileron"/>
              <a:cs typeface="Aileron"/>
              <a:sym typeface="Aileron"/>
            </a:endParaRPr>
          </a:p>
          <a:p>
            <a:pPr algn="l">
              <a:lnSpc>
                <a:spcPts val="3779"/>
              </a:lnSpc>
            </a:pPr>
            <a:r>
              <a:rPr lang="en-US" sz="2699">
                <a:solidFill>
                  <a:srgbClr val="F8F6F7"/>
                </a:solidFill>
                <a:latin typeface="Aileron"/>
                <a:ea typeface="Aileron"/>
                <a:cs typeface="Aileron"/>
                <a:sym typeface="Aileron"/>
              </a:rPr>
              <a:t>Demonstrates evolution from proof-of-concept to a deployable system</a:t>
            </a:r>
          </a:p>
          <a:p>
            <a:pPr marL="0" lvl="0" indent="0" algn="l">
              <a:lnSpc>
                <a:spcPts val="3779"/>
              </a:lnSpc>
            </a:pPr>
            <a:endParaRPr lang="en-US" sz="2699">
              <a:solidFill>
                <a:srgbClr val="F8F6F7"/>
              </a:solidFill>
              <a:latin typeface="Aileron"/>
              <a:ea typeface="Aileron"/>
              <a:cs typeface="Aileron"/>
              <a:sym typeface="Aileron"/>
            </a:endParaRPr>
          </a:p>
        </p:txBody>
      </p:sp>
      <p:sp>
        <p:nvSpPr>
          <p:cNvPr id="10" name="AutoShape 10"/>
          <p:cNvSpPr/>
          <p:nvPr/>
        </p:nvSpPr>
        <p:spPr>
          <a:xfrm flipV="1">
            <a:off x="8541980" y="3524250"/>
            <a:ext cx="0" cy="5734050"/>
          </a:xfrm>
          <a:prstGeom prst="line">
            <a:avLst/>
          </a:prstGeom>
          <a:ln w="38100" cap="flat">
            <a:solidFill>
              <a:srgbClr val="F8F6F7">
                <a:alpha val="37647"/>
              </a:srgbClr>
            </a:solidFill>
            <a:prstDash val="solid"/>
            <a:headEnd type="none" w="sm" len="sm"/>
            <a:tailEnd type="none" w="sm" len="sm"/>
          </a:ln>
        </p:spPr>
        <p:txBody>
          <a:bodyPr/>
          <a:lstStyle/>
          <a:p>
            <a:endParaRPr lang="LID4096"/>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4812711" y="732175"/>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585273"/>
            <a:ext cx="16230600" cy="1544445"/>
          </a:xfrm>
          <a:prstGeom prst="rect">
            <a:avLst/>
          </a:prstGeom>
        </p:spPr>
        <p:txBody>
          <a:bodyPr lIns="0" tIns="0" rIns="0" bIns="0" rtlCol="0" anchor="t">
            <a:spAutoFit/>
          </a:bodyPr>
          <a:lstStyle/>
          <a:p>
            <a:pPr marL="0" lvl="0" indent="0" algn="l">
              <a:lnSpc>
                <a:spcPts val="11999"/>
              </a:lnSpc>
            </a:pPr>
            <a:r>
              <a:rPr lang="en-US" sz="11008" b="1" spc="-715">
                <a:solidFill>
                  <a:srgbClr val="F8F6F7"/>
                </a:solidFill>
                <a:latin typeface="Open Sauce Bold"/>
                <a:ea typeface="Open Sauce Bold"/>
                <a:cs typeface="Open Sauce Bold"/>
                <a:sym typeface="Open Sauce Bold"/>
              </a:rPr>
              <a:t>System Architecture</a:t>
            </a:r>
          </a:p>
        </p:txBody>
      </p:sp>
      <p:sp>
        <p:nvSpPr>
          <p:cNvPr id="7" name="TextBox 7"/>
          <p:cNvSpPr txBox="1"/>
          <p:nvPr/>
        </p:nvSpPr>
        <p:spPr>
          <a:xfrm>
            <a:off x="1198143" y="4124392"/>
            <a:ext cx="7494230" cy="4705350"/>
          </a:xfrm>
          <a:prstGeom prst="rect">
            <a:avLst/>
          </a:prstGeom>
        </p:spPr>
        <p:txBody>
          <a:bodyPr lIns="0" tIns="0" rIns="0" bIns="0" rtlCol="0" anchor="t">
            <a:spAutoFit/>
          </a:bodyPr>
          <a:lstStyle/>
          <a:p>
            <a:pPr algn="l">
              <a:lnSpc>
                <a:spcPts val="3449"/>
              </a:lnSpc>
            </a:pPr>
            <a:r>
              <a:rPr lang="en-US" sz="2499" b="1">
                <a:solidFill>
                  <a:srgbClr val="F8F6F7"/>
                </a:solidFill>
                <a:latin typeface="Aileron Bold"/>
                <a:ea typeface="Aileron Bold"/>
                <a:cs typeface="Aileron Bold"/>
                <a:sym typeface="Aileron Bold"/>
              </a:rPr>
              <a:t>Presentation Layer</a:t>
            </a:r>
          </a:p>
          <a:p>
            <a:pPr marL="539749" lvl="1" indent="-269875" algn="l">
              <a:lnSpc>
                <a:spcPts val="3449"/>
              </a:lnSpc>
              <a:buFont typeface="Arial"/>
              <a:buChar char="•"/>
            </a:pPr>
            <a:r>
              <a:rPr lang="en-US" sz="2499">
                <a:solidFill>
                  <a:srgbClr val="F8F6F7"/>
                </a:solidFill>
                <a:latin typeface="Aileron"/>
                <a:ea typeface="Aileron"/>
                <a:cs typeface="Aileron"/>
                <a:sym typeface="Aileron"/>
              </a:rPr>
              <a:t>Web-based dashboard built using Flask</a:t>
            </a:r>
          </a:p>
          <a:p>
            <a:pPr marL="539749" lvl="1" indent="-269875" algn="l">
              <a:lnSpc>
                <a:spcPts val="3449"/>
              </a:lnSpc>
              <a:buFont typeface="Arial"/>
              <a:buChar char="•"/>
            </a:pPr>
            <a:r>
              <a:rPr lang="en-US" sz="2499">
                <a:solidFill>
                  <a:srgbClr val="F8F6F7"/>
                </a:solidFill>
                <a:latin typeface="Aileron"/>
                <a:ea typeface="Aileron"/>
                <a:cs typeface="Aileron"/>
                <a:sym typeface="Aileron"/>
              </a:rPr>
              <a:t>Provides user interaction for staff and students</a:t>
            </a:r>
          </a:p>
          <a:p>
            <a:pPr algn="l">
              <a:lnSpc>
                <a:spcPts val="3449"/>
              </a:lnSpc>
            </a:pPr>
            <a:endParaRPr lang="en-US" sz="2499">
              <a:solidFill>
                <a:srgbClr val="F8F6F7"/>
              </a:solidFill>
              <a:latin typeface="Aileron"/>
              <a:ea typeface="Aileron"/>
              <a:cs typeface="Aileron"/>
              <a:sym typeface="Aileron"/>
            </a:endParaRPr>
          </a:p>
          <a:p>
            <a:pPr algn="l">
              <a:lnSpc>
                <a:spcPts val="3449"/>
              </a:lnSpc>
            </a:pPr>
            <a:r>
              <a:rPr lang="en-US" sz="2499" b="1">
                <a:solidFill>
                  <a:srgbClr val="F8F6F7"/>
                </a:solidFill>
                <a:latin typeface="Aileron Bold"/>
                <a:ea typeface="Aileron Bold"/>
                <a:cs typeface="Aileron Bold"/>
                <a:sym typeface="Aileron Bold"/>
              </a:rPr>
              <a:t>Application Layer</a:t>
            </a:r>
          </a:p>
          <a:p>
            <a:pPr marL="539749" lvl="1" indent="-269875" algn="l">
              <a:lnSpc>
                <a:spcPts val="3449"/>
              </a:lnSpc>
              <a:buFont typeface="Arial"/>
              <a:buChar char="•"/>
            </a:pPr>
            <a:r>
              <a:rPr lang="en-US" sz="2499">
                <a:solidFill>
                  <a:srgbClr val="F8F6F7"/>
                </a:solidFill>
                <a:latin typeface="Aileron"/>
                <a:ea typeface="Aileron"/>
                <a:cs typeface="Aileron"/>
                <a:sym typeface="Aileron"/>
              </a:rPr>
              <a:t>Handles routing, business logic, and API communication</a:t>
            </a:r>
          </a:p>
          <a:p>
            <a:pPr marL="539749" lvl="1" indent="-269875" algn="l">
              <a:lnSpc>
                <a:spcPts val="3449"/>
              </a:lnSpc>
              <a:buFont typeface="Arial"/>
              <a:buChar char="•"/>
            </a:pPr>
            <a:r>
              <a:rPr lang="en-US" sz="2499">
                <a:solidFill>
                  <a:srgbClr val="F8F6F7"/>
                </a:solidFill>
                <a:latin typeface="Aileron"/>
                <a:ea typeface="Aileron"/>
                <a:cs typeface="Aileron"/>
                <a:sym typeface="Aileron"/>
              </a:rPr>
              <a:t>Connects user interface with backend processing</a:t>
            </a:r>
          </a:p>
          <a:p>
            <a:pPr algn="l">
              <a:lnSpc>
                <a:spcPts val="3449"/>
              </a:lnSpc>
            </a:pPr>
            <a:endParaRPr lang="en-US" sz="2499">
              <a:solidFill>
                <a:srgbClr val="F8F6F7"/>
              </a:solidFill>
              <a:latin typeface="Aileron"/>
              <a:ea typeface="Aileron"/>
              <a:cs typeface="Aileron"/>
              <a:sym typeface="Aileron"/>
            </a:endParaRPr>
          </a:p>
          <a:p>
            <a:pPr marL="0" lvl="0" indent="0" algn="l">
              <a:lnSpc>
                <a:spcPts val="3449"/>
              </a:lnSpc>
            </a:pPr>
            <a:endParaRPr lang="en-US" sz="2499">
              <a:solidFill>
                <a:srgbClr val="F8F6F7"/>
              </a:solidFill>
              <a:latin typeface="Aileron"/>
              <a:ea typeface="Aileron"/>
              <a:cs typeface="Aileron"/>
              <a:sym typeface="Aileron"/>
            </a:endParaRPr>
          </a:p>
        </p:txBody>
      </p:sp>
      <p:sp>
        <p:nvSpPr>
          <p:cNvPr id="8" name="Freeform 8"/>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9" name="TextBox 9"/>
          <p:cNvSpPr txBox="1"/>
          <p:nvPr/>
        </p:nvSpPr>
        <p:spPr>
          <a:xfrm>
            <a:off x="9485830" y="4124325"/>
            <a:ext cx="7674869" cy="5133975"/>
          </a:xfrm>
          <a:prstGeom prst="rect">
            <a:avLst/>
          </a:prstGeom>
        </p:spPr>
        <p:txBody>
          <a:bodyPr lIns="0" tIns="0" rIns="0" bIns="0" rtlCol="0" anchor="t">
            <a:spAutoFit/>
          </a:bodyPr>
          <a:lstStyle/>
          <a:p>
            <a:pPr algn="l">
              <a:lnSpc>
                <a:spcPts val="3449"/>
              </a:lnSpc>
            </a:pPr>
            <a:r>
              <a:rPr lang="en-US" sz="2499" b="1">
                <a:solidFill>
                  <a:srgbClr val="F8F6F7"/>
                </a:solidFill>
                <a:latin typeface="Aileron Bold"/>
                <a:ea typeface="Aileron Bold"/>
                <a:cs typeface="Aileron Bold"/>
                <a:sym typeface="Aileron Bold"/>
              </a:rPr>
              <a:t>Data Layer</a:t>
            </a:r>
          </a:p>
          <a:p>
            <a:pPr marL="539749" lvl="1" indent="-269875" algn="l">
              <a:lnSpc>
                <a:spcPts val="3449"/>
              </a:lnSpc>
              <a:buFont typeface="Arial"/>
              <a:buChar char="•"/>
            </a:pPr>
            <a:r>
              <a:rPr lang="en-US" sz="2499">
                <a:solidFill>
                  <a:srgbClr val="F8F6F7"/>
                </a:solidFill>
                <a:latin typeface="Aileron"/>
                <a:ea typeface="Aileron"/>
                <a:cs typeface="Aileron"/>
                <a:sym typeface="Aileron"/>
              </a:rPr>
              <a:t>SQLite database storing:</a:t>
            </a:r>
          </a:p>
          <a:p>
            <a:pPr marL="1079499" lvl="2" indent="-359833" algn="l">
              <a:lnSpc>
                <a:spcPts val="3449"/>
              </a:lnSpc>
              <a:buFont typeface="Arial"/>
              <a:buChar char="⚬"/>
            </a:pPr>
            <a:r>
              <a:rPr lang="en-US" sz="2499">
                <a:solidFill>
                  <a:srgbClr val="F8F6F7"/>
                </a:solidFill>
                <a:latin typeface="Aileron"/>
                <a:ea typeface="Aileron"/>
                <a:cs typeface="Aileron"/>
                <a:sym typeface="Aileron"/>
              </a:rPr>
              <a:t>Student records</a:t>
            </a:r>
          </a:p>
          <a:p>
            <a:pPr marL="1079499" lvl="2" indent="-359833" algn="l">
              <a:lnSpc>
                <a:spcPts val="3449"/>
              </a:lnSpc>
              <a:buFont typeface="Arial"/>
              <a:buChar char="⚬"/>
            </a:pPr>
            <a:r>
              <a:rPr lang="en-US" sz="2499">
                <a:solidFill>
                  <a:srgbClr val="F8F6F7"/>
                </a:solidFill>
                <a:latin typeface="Aileron"/>
                <a:ea typeface="Aileron"/>
                <a:cs typeface="Aileron"/>
                <a:sym typeface="Aileron"/>
              </a:rPr>
              <a:t>Unit configurations</a:t>
            </a:r>
          </a:p>
          <a:p>
            <a:pPr marL="1079499" lvl="2" indent="-359833" algn="l">
              <a:lnSpc>
                <a:spcPts val="3449"/>
              </a:lnSpc>
              <a:buFont typeface="Arial"/>
              <a:buChar char="⚬"/>
            </a:pPr>
            <a:r>
              <a:rPr lang="en-US" sz="2499">
                <a:solidFill>
                  <a:srgbClr val="F8F6F7"/>
                </a:solidFill>
                <a:latin typeface="Aileron"/>
                <a:ea typeface="Aileron"/>
                <a:cs typeface="Aileron"/>
                <a:sym typeface="Aileron"/>
              </a:rPr>
              <a:t>Prediction results</a:t>
            </a:r>
          </a:p>
          <a:p>
            <a:pPr algn="l">
              <a:lnSpc>
                <a:spcPts val="3449"/>
              </a:lnSpc>
            </a:pPr>
            <a:r>
              <a:rPr lang="en-US" sz="2499" b="1">
                <a:solidFill>
                  <a:srgbClr val="F8F6F7"/>
                </a:solidFill>
                <a:latin typeface="Aileron Bold"/>
                <a:ea typeface="Aileron Bold"/>
                <a:cs typeface="Aileron Bold"/>
                <a:sym typeface="Aileron Bold"/>
              </a:rPr>
              <a:t>AI Processing Layer</a:t>
            </a:r>
          </a:p>
          <a:p>
            <a:pPr marL="539749" lvl="1" indent="-269875" algn="l">
              <a:lnSpc>
                <a:spcPts val="3449"/>
              </a:lnSpc>
              <a:buFont typeface="Arial"/>
              <a:buChar char="•"/>
            </a:pPr>
            <a:r>
              <a:rPr lang="en-US" sz="2499">
                <a:solidFill>
                  <a:srgbClr val="F8F6F7"/>
                </a:solidFill>
                <a:latin typeface="Aileron"/>
                <a:ea typeface="Aileron"/>
                <a:cs typeface="Aileron"/>
                <a:sym typeface="Aileron"/>
              </a:rPr>
              <a:t>Data preprocessing</a:t>
            </a:r>
          </a:p>
          <a:p>
            <a:pPr marL="539749" lvl="1" indent="-269875" algn="l">
              <a:lnSpc>
                <a:spcPts val="3449"/>
              </a:lnSpc>
              <a:buFont typeface="Arial"/>
              <a:buChar char="•"/>
            </a:pPr>
            <a:r>
              <a:rPr lang="en-US" sz="2499">
                <a:solidFill>
                  <a:srgbClr val="F8F6F7"/>
                </a:solidFill>
                <a:latin typeface="Aileron"/>
                <a:ea typeface="Aileron"/>
                <a:cs typeface="Aileron"/>
                <a:sym typeface="Aileron"/>
              </a:rPr>
              <a:t>Machine learning models</a:t>
            </a:r>
          </a:p>
          <a:p>
            <a:pPr marL="539749" lvl="1" indent="-269875" algn="l">
              <a:lnSpc>
                <a:spcPts val="3449"/>
              </a:lnSpc>
              <a:buFont typeface="Arial"/>
              <a:buChar char="•"/>
            </a:pPr>
            <a:r>
              <a:rPr lang="en-US" sz="2499">
                <a:solidFill>
                  <a:srgbClr val="F8F6F7"/>
                </a:solidFill>
                <a:latin typeface="Aileron"/>
                <a:ea typeface="Aileron"/>
                <a:cs typeface="Aileron"/>
                <a:sym typeface="Aileron"/>
              </a:rPr>
              <a:t>Rule-based risk engine</a:t>
            </a:r>
          </a:p>
          <a:p>
            <a:pPr algn="l">
              <a:lnSpc>
                <a:spcPts val="3449"/>
              </a:lnSpc>
            </a:pPr>
            <a:r>
              <a:rPr lang="en-US" sz="2499">
                <a:solidFill>
                  <a:srgbClr val="F8F6F7"/>
                </a:solidFill>
                <a:latin typeface="Aileron"/>
                <a:ea typeface="Aileron"/>
                <a:cs typeface="Aileron"/>
                <a:sym typeface="Aileron"/>
              </a:rPr>
              <a:t>Modular design improves maintainability and scalability</a:t>
            </a:r>
          </a:p>
          <a:p>
            <a:pPr marL="0" lvl="0" indent="0" algn="l">
              <a:lnSpc>
                <a:spcPts val="3449"/>
              </a:lnSpc>
            </a:pPr>
            <a:endParaRPr lang="en-US" sz="2499">
              <a:solidFill>
                <a:srgbClr val="F8F6F7"/>
              </a:solidFill>
              <a:latin typeface="Aileron"/>
              <a:ea typeface="Aileron"/>
              <a:cs typeface="Aileron"/>
              <a:sym typeface="Aileron"/>
            </a:endParaRPr>
          </a:p>
        </p:txBody>
      </p:sp>
      <p:sp>
        <p:nvSpPr>
          <p:cNvPr id="10" name="AutoShape 10"/>
          <p:cNvSpPr/>
          <p:nvPr/>
        </p:nvSpPr>
        <p:spPr>
          <a:xfrm flipV="1">
            <a:off x="8692373" y="4172017"/>
            <a:ext cx="0" cy="4657725"/>
          </a:xfrm>
          <a:prstGeom prst="line">
            <a:avLst/>
          </a:prstGeom>
          <a:ln w="38100" cap="flat">
            <a:solidFill>
              <a:srgbClr val="F8F6F7">
                <a:alpha val="37647"/>
              </a:srgbClr>
            </a:solidFill>
            <a:prstDash val="solid"/>
            <a:headEnd type="none" w="sm" len="sm"/>
            <a:tailEnd type="none" w="sm" len="sm"/>
          </a:ln>
        </p:spPr>
        <p:txBody>
          <a:bodyPr/>
          <a:lstStyle/>
          <a:p>
            <a:endParaRPr lang="LID4096"/>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032848" y="1794598"/>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pic>
        <p:nvPicPr>
          <p:cNvPr id="9" name="Picture 8">
            <a:extLst>
              <a:ext uri="{FF2B5EF4-FFF2-40B4-BE49-F238E27FC236}">
                <a16:creationId xmlns:a16="http://schemas.microsoft.com/office/drawing/2014/main" id="{329CA710-4423-10C2-20ED-6659A15E45CA}"/>
              </a:ext>
            </a:extLst>
          </p:cNvPr>
          <p:cNvPicPr>
            <a:picLocks noChangeAspect="1"/>
          </p:cNvPicPr>
          <p:nvPr/>
        </p:nvPicPr>
        <p:blipFill>
          <a:blip r:embed="rId6"/>
          <a:stretch>
            <a:fillRect/>
          </a:stretch>
        </p:blipFill>
        <p:spPr>
          <a:xfrm>
            <a:off x="1828800" y="266700"/>
            <a:ext cx="14630400" cy="9753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4812711" y="732175"/>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585273"/>
            <a:ext cx="16230600" cy="1544445"/>
          </a:xfrm>
          <a:prstGeom prst="rect">
            <a:avLst/>
          </a:prstGeom>
        </p:spPr>
        <p:txBody>
          <a:bodyPr lIns="0" tIns="0" rIns="0" bIns="0" rtlCol="0" anchor="t">
            <a:spAutoFit/>
          </a:bodyPr>
          <a:lstStyle/>
          <a:p>
            <a:pPr marL="0" lvl="0" indent="0" algn="l">
              <a:lnSpc>
                <a:spcPts val="11999"/>
              </a:lnSpc>
            </a:pPr>
            <a:r>
              <a:rPr lang="en-US" sz="11008" b="1" spc="-715">
                <a:solidFill>
                  <a:srgbClr val="F8F6F7"/>
                </a:solidFill>
                <a:latin typeface="Open Sauce Bold"/>
                <a:ea typeface="Open Sauce Bold"/>
                <a:cs typeface="Open Sauce Bold"/>
                <a:sym typeface="Open Sauce Bold"/>
              </a:rPr>
              <a:t>Data Flow</a:t>
            </a:r>
          </a:p>
        </p:txBody>
      </p:sp>
      <p:sp>
        <p:nvSpPr>
          <p:cNvPr id="7" name="TextBox 7"/>
          <p:cNvSpPr txBox="1"/>
          <p:nvPr/>
        </p:nvSpPr>
        <p:spPr>
          <a:xfrm>
            <a:off x="1198143" y="4125179"/>
            <a:ext cx="7494230" cy="4803775"/>
          </a:xfrm>
          <a:prstGeom prst="rect">
            <a:avLst/>
          </a:prstGeom>
        </p:spPr>
        <p:txBody>
          <a:bodyPr lIns="0" tIns="0" rIns="0" bIns="0" rtlCol="0" anchor="t">
            <a:spAutoFit/>
          </a:bodyPr>
          <a:lstStyle/>
          <a:p>
            <a:pPr marL="0" lvl="0" indent="0" algn="l">
              <a:lnSpc>
                <a:spcPts val="3499"/>
              </a:lnSpc>
            </a:pPr>
            <a:endParaRPr/>
          </a:p>
          <a:p>
            <a:pPr marL="539749" lvl="1" indent="-269875" algn="l">
              <a:lnSpc>
                <a:spcPts val="3499"/>
              </a:lnSpc>
              <a:buAutoNum type="arabicPeriod"/>
            </a:pPr>
            <a:r>
              <a:rPr lang="en-US" sz="2499" u="none" strike="noStrike">
                <a:solidFill>
                  <a:srgbClr val="F8F6F7"/>
                </a:solidFill>
                <a:latin typeface="Aileron"/>
                <a:ea typeface="Aileron"/>
                <a:cs typeface="Aileron"/>
                <a:sym typeface="Aileron"/>
              </a:rPr>
              <a:t>User inputs student performance data through dashboard</a:t>
            </a:r>
          </a:p>
          <a:p>
            <a:pPr marL="539749" lvl="1" indent="-269875" algn="l">
              <a:lnSpc>
                <a:spcPts val="3499"/>
              </a:lnSpc>
              <a:buAutoNum type="arabicPeriod"/>
            </a:pPr>
            <a:r>
              <a:rPr lang="en-US" sz="2499" u="none" strike="noStrike">
                <a:solidFill>
                  <a:srgbClr val="F8F6F7"/>
                </a:solidFill>
                <a:latin typeface="Aileron"/>
                <a:ea typeface="Aileron"/>
                <a:cs typeface="Aileron"/>
                <a:sym typeface="Aileron"/>
              </a:rPr>
              <a:t>Data is validated and stored in the database</a:t>
            </a:r>
          </a:p>
          <a:p>
            <a:pPr marL="539749" lvl="1" indent="-269875" algn="l">
              <a:lnSpc>
                <a:spcPts val="3499"/>
              </a:lnSpc>
              <a:buAutoNum type="arabicPeriod"/>
            </a:pPr>
            <a:r>
              <a:rPr lang="en-US" sz="2499" u="none" strike="noStrike">
                <a:solidFill>
                  <a:srgbClr val="F8F6F7"/>
                </a:solidFill>
                <a:latin typeface="Aileron"/>
                <a:ea typeface="Aileron"/>
                <a:cs typeface="Aileron"/>
                <a:sym typeface="Aileron"/>
              </a:rPr>
              <a:t>Preprocessing module:</a:t>
            </a:r>
          </a:p>
          <a:p>
            <a:pPr marL="1079499" lvl="2" indent="-359833" algn="l">
              <a:lnSpc>
                <a:spcPts val="3499"/>
              </a:lnSpc>
              <a:buFont typeface="Arial"/>
              <a:buChar char="⚬"/>
            </a:pPr>
            <a:r>
              <a:rPr lang="en-US" sz="2499" u="none" strike="noStrike">
                <a:solidFill>
                  <a:srgbClr val="F8F6F7"/>
                </a:solidFill>
                <a:latin typeface="Aileron"/>
                <a:ea typeface="Aileron"/>
                <a:cs typeface="Aileron"/>
                <a:sym typeface="Aileron"/>
              </a:rPr>
              <a:t>Cleans and standardises data</a:t>
            </a:r>
          </a:p>
          <a:p>
            <a:pPr marL="1079499" lvl="2" indent="-359833" algn="l">
              <a:lnSpc>
                <a:spcPts val="3499"/>
              </a:lnSpc>
              <a:buFont typeface="Arial"/>
              <a:buChar char="⚬"/>
            </a:pPr>
            <a:r>
              <a:rPr lang="en-US" sz="2499" u="none" strike="noStrike">
                <a:solidFill>
                  <a:srgbClr val="F8F6F7"/>
                </a:solidFill>
                <a:latin typeface="Aileron"/>
                <a:ea typeface="Aileron"/>
                <a:cs typeface="Aileron"/>
                <a:sym typeface="Aileron"/>
              </a:rPr>
              <a:t>Handles missing values</a:t>
            </a:r>
          </a:p>
          <a:p>
            <a:pPr marL="1079499" lvl="2" indent="-359833" algn="l">
              <a:lnSpc>
                <a:spcPts val="3499"/>
              </a:lnSpc>
              <a:buFont typeface="Arial"/>
              <a:buChar char="⚬"/>
            </a:pPr>
            <a:r>
              <a:rPr lang="en-US" sz="2499" u="none" strike="noStrike">
                <a:solidFill>
                  <a:srgbClr val="F8F6F7"/>
                </a:solidFill>
                <a:latin typeface="Aileron"/>
                <a:ea typeface="Aileron"/>
                <a:cs typeface="Aileron"/>
                <a:sym typeface="Aileron"/>
              </a:rPr>
              <a:t>Applies feature scaling</a:t>
            </a:r>
          </a:p>
          <a:p>
            <a:pPr marL="1079499" lvl="2" indent="-359833" algn="l">
              <a:lnSpc>
                <a:spcPts val="3499"/>
              </a:lnSpc>
              <a:buFont typeface="Arial"/>
              <a:buChar char="⚬"/>
            </a:pPr>
            <a:r>
              <a:rPr lang="en-US" sz="2499" u="none" strike="noStrike">
                <a:solidFill>
                  <a:srgbClr val="F8F6F7"/>
                </a:solidFill>
                <a:latin typeface="Aileron"/>
                <a:ea typeface="Aileron"/>
                <a:cs typeface="Aileron"/>
                <a:sym typeface="Aileron"/>
              </a:rPr>
              <a:t>Addresses class imbalance using SMOTE</a:t>
            </a:r>
          </a:p>
          <a:p>
            <a:pPr marL="539749" lvl="1" indent="-269875" algn="l">
              <a:lnSpc>
                <a:spcPts val="3499"/>
              </a:lnSpc>
              <a:buAutoNum type="arabicPeriod"/>
            </a:pPr>
            <a:r>
              <a:rPr lang="en-US" sz="2499" u="none" strike="noStrike">
                <a:solidFill>
                  <a:srgbClr val="F8F6F7"/>
                </a:solidFill>
                <a:latin typeface="Aileron"/>
                <a:ea typeface="Aileron"/>
                <a:cs typeface="Aileron"/>
                <a:sym typeface="Aileron"/>
              </a:rPr>
              <a:t>Machine Learning Model:</a:t>
            </a:r>
          </a:p>
          <a:p>
            <a:pPr marL="1079499" lvl="2" indent="-359833" algn="l">
              <a:lnSpc>
                <a:spcPts val="3499"/>
              </a:lnSpc>
              <a:buFont typeface="Arial"/>
              <a:buChar char="⚬"/>
            </a:pPr>
            <a:r>
              <a:rPr lang="en-US" sz="2499" u="none" strike="noStrike">
                <a:solidFill>
                  <a:srgbClr val="F8F6F7"/>
                </a:solidFill>
                <a:latin typeface="Aileron"/>
                <a:ea typeface="Aileron"/>
                <a:cs typeface="Aileron"/>
                <a:sym typeface="Aileron"/>
              </a:rPr>
              <a:t>Generates probability of failure</a:t>
            </a:r>
          </a:p>
        </p:txBody>
      </p:sp>
      <p:sp>
        <p:nvSpPr>
          <p:cNvPr id="8" name="Freeform 8"/>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9" name="TextBox 9"/>
          <p:cNvSpPr txBox="1"/>
          <p:nvPr/>
        </p:nvSpPr>
        <p:spPr>
          <a:xfrm>
            <a:off x="9485830" y="4563329"/>
            <a:ext cx="7674869" cy="3927475"/>
          </a:xfrm>
          <a:prstGeom prst="rect">
            <a:avLst/>
          </a:prstGeom>
        </p:spPr>
        <p:txBody>
          <a:bodyPr lIns="0" tIns="0" rIns="0" bIns="0" rtlCol="0" anchor="t">
            <a:spAutoFit/>
          </a:bodyPr>
          <a:lstStyle/>
          <a:p>
            <a:pPr marL="539749" lvl="1" indent="-269875" algn="l">
              <a:lnSpc>
                <a:spcPts val="3499"/>
              </a:lnSpc>
              <a:buAutoNum type="arabicPeriod"/>
            </a:pPr>
            <a:r>
              <a:rPr lang="en-US" sz="2499" b="1">
                <a:solidFill>
                  <a:srgbClr val="F8F6F7"/>
                </a:solidFill>
                <a:latin typeface="Aileron Bold"/>
                <a:ea typeface="Aileron Bold"/>
                <a:cs typeface="Aileron Bold"/>
                <a:sym typeface="Aileron Bold"/>
              </a:rPr>
              <a:t>Rule-Based Engine:</a:t>
            </a:r>
          </a:p>
          <a:p>
            <a:pPr marL="1079499" lvl="2" indent="-359833" algn="l">
              <a:lnSpc>
                <a:spcPts val="3499"/>
              </a:lnSpc>
              <a:buFont typeface="Arial"/>
              <a:buChar char="⚬"/>
            </a:pPr>
            <a:r>
              <a:rPr lang="en-US" sz="2499" b="1">
                <a:solidFill>
                  <a:srgbClr val="F8F6F7"/>
                </a:solidFill>
                <a:latin typeface="Aileron Bold"/>
                <a:ea typeface="Aileron Bold"/>
                <a:cs typeface="Aileron Bold"/>
                <a:sym typeface="Aileron Bold"/>
              </a:rPr>
              <a:t>Evaluates trends such as declining performance</a:t>
            </a:r>
          </a:p>
          <a:p>
            <a:pPr marL="539749" lvl="1" indent="-269875" algn="l">
              <a:lnSpc>
                <a:spcPts val="3499"/>
              </a:lnSpc>
              <a:buAutoNum type="arabicPeriod"/>
            </a:pPr>
            <a:r>
              <a:rPr lang="en-US" sz="2499" b="1">
                <a:solidFill>
                  <a:srgbClr val="F8F6F7"/>
                </a:solidFill>
                <a:latin typeface="Aileron Bold"/>
                <a:ea typeface="Aileron Bold"/>
                <a:cs typeface="Aileron Bold"/>
                <a:sym typeface="Aileron Bold"/>
              </a:rPr>
              <a:t>Hybrid Module:</a:t>
            </a:r>
          </a:p>
          <a:p>
            <a:pPr marL="1079499" lvl="2" indent="-359833" algn="l">
              <a:lnSpc>
                <a:spcPts val="3499"/>
              </a:lnSpc>
              <a:buFont typeface="Arial"/>
              <a:buChar char="⚬"/>
            </a:pPr>
            <a:r>
              <a:rPr lang="en-US" sz="2499" b="1">
                <a:solidFill>
                  <a:srgbClr val="F8F6F7"/>
                </a:solidFill>
                <a:latin typeface="Aileron Bold"/>
                <a:ea typeface="Aileron Bold"/>
                <a:cs typeface="Aileron Bold"/>
                <a:sym typeface="Aileron Bold"/>
              </a:rPr>
              <a:t>Combines outputs into final risk score</a:t>
            </a:r>
          </a:p>
          <a:p>
            <a:pPr marL="539749" lvl="1" indent="-269875" algn="l">
              <a:lnSpc>
                <a:spcPts val="3499"/>
              </a:lnSpc>
              <a:buAutoNum type="arabicPeriod"/>
            </a:pPr>
            <a:r>
              <a:rPr lang="en-US" sz="2499">
                <a:solidFill>
                  <a:srgbClr val="F8F6F7"/>
                </a:solidFill>
                <a:latin typeface="Aileron"/>
                <a:ea typeface="Aileron"/>
                <a:cs typeface="Aileron"/>
                <a:sym typeface="Aileron"/>
              </a:rPr>
              <a:t>R</a:t>
            </a:r>
            <a:r>
              <a:rPr lang="en-US" sz="2499" b="1">
                <a:solidFill>
                  <a:srgbClr val="F8F6F7"/>
                </a:solidFill>
                <a:latin typeface="Aileron Bold"/>
                <a:ea typeface="Aileron Bold"/>
                <a:cs typeface="Aileron Bold"/>
                <a:sym typeface="Aileron Bold"/>
              </a:rPr>
              <a:t>esults:</a:t>
            </a:r>
          </a:p>
          <a:p>
            <a:pPr marL="1079499" lvl="2" indent="-359833" algn="l">
              <a:lnSpc>
                <a:spcPts val="3499"/>
              </a:lnSpc>
              <a:buFont typeface="Arial"/>
              <a:buChar char="⚬"/>
            </a:pPr>
            <a:r>
              <a:rPr lang="en-US" sz="2499" b="1">
                <a:solidFill>
                  <a:srgbClr val="F8F6F7"/>
                </a:solidFill>
                <a:latin typeface="Aileron Bold"/>
                <a:ea typeface="Aileron Bold"/>
                <a:cs typeface="Aileron Bold"/>
                <a:sym typeface="Aileron Bold"/>
              </a:rPr>
              <a:t>Displayed on dashboard</a:t>
            </a:r>
          </a:p>
          <a:p>
            <a:pPr marL="1079499" lvl="2" indent="-359833" algn="l">
              <a:lnSpc>
                <a:spcPts val="3499"/>
              </a:lnSpc>
              <a:buFont typeface="Arial"/>
              <a:buChar char="⚬"/>
            </a:pPr>
            <a:r>
              <a:rPr lang="en-US" sz="2499" b="1">
                <a:solidFill>
                  <a:srgbClr val="F8F6F7"/>
                </a:solidFill>
                <a:latin typeface="Aileron Bold"/>
                <a:ea typeface="Aileron Bold"/>
                <a:cs typeface="Aileron Bold"/>
                <a:sym typeface="Aileron Bold"/>
              </a:rPr>
              <a:t>Stored for future analysis</a:t>
            </a:r>
          </a:p>
          <a:p>
            <a:pPr marL="0" lvl="0" indent="0" algn="l">
              <a:lnSpc>
                <a:spcPts val="3499"/>
              </a:lnSpc>
            </a:pPr>
            <a:endParaRPr lang="en-US" sz="2499" b="1">
              <a:solidFill>
                <a:srgbClr val="F8F6F7"/>
              </a:solidFill>
              <a:latin typeface="Aileron Bold"/>
              <a:ea typeface="Aileron Bold"/>
              <a:cs typeface="Aileron Bold"/>
              <a:sym typeface="Aileron Bold"/>
            </a:endParaRPr>
          </a:p>
        </p:txBody>
      </p:sp>
      <p:sp>
        <p:nvSpPr>
          <p:cNvPr id="10" name="AutoShape 10"/>
          <p:cNvSpPr/>
          <p:nvPr/>
        </p:nvSpPr>
        <p:spPr>
          <a:xfrm flipV="1">
            <a:off x="8991600" y="4172804"/>
            <a:ext cx="0" cy="4756150"/>
          </a:xfrm>
          <a:prstGeom prst="line">
            <a:avLst/>
          </a:prstGeom>
          <a:ln w="38100" cap="flat">
            <a:solidFill>
              <a:srgbClr val="F8F6F7">
                <a:alpha val="37647"/>
              </a:srgbClr>
            </a:solidFill>
            <a:prstDash val="solid"/>
            <a:headEnd type="none" w="sm" len="sm"/>
            <a:tailEnd type="none" w="sm" len="sm"/>
          </a:ln>
        </p:spPr>
        <p:txBody>
          <a:bodyPr/>
          <a:lstStyle/>
          <a:p>
            <a:endParaRPr lang="LID4096"/>
          </a:p>
        </p:txBody>
      </p:sp>
      <p:sp>
        <p:nvSpPr>
          <p:cNvPr id="11" name="TextBox 11"/>
          <p:cNvSpPr txBox="1"/>
          <p:nvPr/>
        </p:nvSpPr>
        <p:spPr>
          <a:xfrm>
            <a:off x="1028700" y="3471764"/>
            <a:ext cx="8876830" cy="405765"/>
          </a:xfrm>
          <a:prstGeom prst="rect">
            <a:avLst/>
          </a:prstGeom>
        </p:spPr>
        <p:txBody>
          <a:bodyPr lIns="0" tIns="0" rIns="0" bIns="0" rtlCol="0" anchor="t">
            <a:spAutoFit/>
          </a:bodyPr>
          <a:lstStyle/>
          <a:p>
            <a:pPr algn="l">
              <a:lnSpc>
                <a:spcPts val="3030"/>
              </a:lnSpc>
            </a:pPr>
            <a:r>
              <a:rPr lang="en-US" sz="3000" b="1">
                <a:solidFill>
                  <a:srgbClr val="F8F6F7"/>
                </a:solidFill>
                <a:latin typeface="Aileron Bold"/>
                <a:ea typeface="Aileron Bold"/>
                <a:cs typeface="Aileron Bold"/>
                <a:sym typeface="Aileron Bold"/>
              </a:rPr>
              <a:t>End-to-End Pipeline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grpSp>
        <p:nvGrpSpPr>
          <p:cNvPr id="2" name="Group 2"/>
          <p:cNvGrpSpPr/>
          <p:nvPr/>
        </p:nvGrpSpPr>
        <p:grpSpPr>
          <a:xfrm>
            <a:off x="-349859" y="8343343"/>
            <a:ext cx="2757118" cy="275711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57702" flipH="1" flipV="1">
            <a:off x="-4737076" y="-5228927"/>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6" name="Group 6"/>
          <p:cNvGrpSpPr/>
          <p:nvPr/>
        </p:nvGrpSpPr>
        <p:grpSpPr>
          <a:xfrm>
            <a:off x="1973110" y="4394725"/>
            <a:ext cx="2757118" cy="275711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10" name="Freeform 10"/>
          <p:cNvSpPr/>
          <p:nvPr/>
        </p:nvSpPr>
        <p:spPr>
          <a:xfrm>
            <a:off x="1179093" y="788860"/>
            <a:ext cx="7758239" cy="7275575"/>
          </a:xfrm>
          <a:custGeom>
            <a:avLst/>
            <a:gdLst/>
            <a:ahLst/>
            <a:cxnLst/>
            <a:rect l="l" t="t" r="r" b="b"/>
            <a:pathLst>
              <a:path w="7758239" h="7275575">
                <a:moveTo>
                  <a:pt x="0" y="0"/>
                </a:moveTo>
                <a:lnTo>
                  <a:pt x="7758240" y="0"/>
                </a:lnTo>
                <a:lnTo>
                  <a:pt x="7758240" y="7275575"/>
                </a:lnTo>
                <a:lnTo>
                  <a:pt x="0" y="7275575"/>
                </a:lnTo>
                <a:lnTo>
                  <a:pt x="0" y="0"/>
                </a:lnTo>
                <a:close/>
              </a:path>
            </a:pathLst>
          </a:custGeom>
          <a:blipFill>
            <a:blip r:embed="rId6"/>
            <a:stretch>
              <a:fillRect l="-11864" r="-14318" b="-101957"/>
            </a:stretch>
          </a:blipFill>
        </p:spPr>
        <p:txBody>
          <a:bodyPr/>
          <a:lstStyle/>
          <a:p>
            <a:endParaRPr lang="LID4096"/>
          </a:p>
        </p:txBody>
      </p:sp>
      <p:sp>
        <p:nvSpPr>
          <p:cNvPr id="11" name="Freeform 11"/>
          <p:cNvSpPr/>
          <p:nvPr/>
        </p:nvSpPr>
        <p:spPr>
          <a:xfrm>
            <a:off x="9963841" y="2288760"/>
            <a:ext cx="7196859" cy="6969540"/>
          </a:xfrm>
          <a:custGeom>
            <a:avLst/>
            <a:gdLst/>
            <a:ahLst/>
            <a:cxnLst/>
            <a:rect l="l" t="t" r="r" b="b"/>
            <a:pathLst>
              <a:path w="7196859" h="6969540">
                <a:moveTo>
                  <a:pt x="0" y="0"/>
                </a:moveTo>
                <a:lnTo>
                  <a:pt x="7196858" y="0"/>
                </a:lnTo>
                <a:lnTo>
                  <a:pt x="7196858" y="6969540"/>
                </a:lnTo>
                <a:lnTo>
                  <a:pt x="0" y="6969540"/>
                </a:lnTo>
                <a:lnTo>
                  <a:pt x="0" y="0"/>
                </a:lnTo>
                <a:close/>
              </a:path>
            </a:pathLst>
          </a:custGeom>
          <a:blipFill>
            <a:blip r:embed="rId6"/>
            <a:stretch>
              <a:fillRect l="-21561" t="-121115" r="-21103"/>
            </a:stretch>
          </a:blipFill>
        </p:spPr>
        <p:txBody>
          <a:bodyPr/>
          <a:lstStyle/>
          <a:p>
            <a:endParaRPr lang="LID4096"/>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a:extLst>
            <a:ext uri="{FF2B5EF4-FFF2-40B4-BE49-F238E27FC236}">
              <a16:creationId xmlns:a16="http://schemas.microsoft.com/office/drawing/2014/main" id="{CBC08956-3031-491E-C77A-4BA36DDC41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3AE2087-E7FA-2BD9-6577-1CA7455CD74E}"/>
              </a:ext>
            </a:extLst>
          </p:cNvPr>
          <p:cNvGrpSpPr/>
          <p:nvPr/>
        </p:nvGrpSpPr>
        <p:grpSpPr>
          <a:xfrm>
            <a:off x="-349859" y="8343343"/>
            <a:ext cx="2757118" cy="2757118"/>
            <a:chOff x="0" y="0"/>
            <a:chExt cx="812800" cy="812800"/>
          </a:xfrm>
        </p:grpSpPr>
        <p:sp>
          <p:nvSpPr>
            <p:cNvPr id="3" name="Freeform 3">
              <a:extLst>
                <a:ext uri="{FF2B5EF4-FFF2-40B4-BE49-F238E27FC236}">
                  <a16:creationId xmlns:a16="http://schemas.microsoft.com/office/drawing/2014/main" id="{16AAC11D-B9E6-5ABC-24B2-023ADE1E85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4" name="TextBox 4">
              <a:extLst>
                <a:ext uri="{FF2B5EF4-FFF2-40B4-BE49-F238E27FC236}">
                  <a16:creationId xmlns:a16="http://schemas.microsoft.com/office/drawing/2014/main" id="{4AAF99EA-37BF-288C-979C-5B7C8F704C8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FF2B5EF4-FFF2-40B4-BE49-F238E27FC236}">
                <a16:creationId xmlns:a16="http://schemas.microsoft.com/office/drawing/2014/main" id="{1D9B3C9E-1019-A9A2-193B-AF94B954BF08}"/>
              </a:ext>
            </a:extLst>
          </p:cNvPr>
          <p:cNvSpPr/>
          <p:nvPr/>
        </p:nvSpPr>
        <p:spPr>
          <a:xfrm rot="-557702" flipH="1" flipV="1">
            <a:off x="-4737076" y="-5228927"/>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6" name="Group 6">
            <a:extLst>
              <a:ext uri="{FF2B5EF4-FFF2-40B4-BE49-F238E27FC236}">
                <a16:creationId xmlns:a16="http://schemas.microsoft.com/office/drawing/2014/main" id="{B95011A4-B6E5-ABE6-028B-29E3E89B6C3E}"/>
              </a:ext>
            </a:extLst>
          </p:cNvPr>
          <p:cNvGrpSpPr/>
          <p:nvPr/>
        </p:nvGrpSpPr>
        <p:grpSpPr>
          <a:xfrm>
            <a:off x="1973110" y="4394725"/>
            <a:ext cx="2757118" cy="2757118"/>
            <a:chOff x="0" y="0"/>
            <a:chExt cx="812800" cy="812800"/>
          </a:xfrm>
        </p:grpSpPr>
        <p:sp>
          <p:nvSpPr>
            <p:cNvPr id="7" name="Freeform 7">
              <a:extLst>
                <a:ext uri="{FF2B5EF4-FFF2-40B4-BE49-F238E27FC236}">
                  <a16:creationId xmlns:a16="http://schemas.microsoft.com/office/drawing/2014/main" id="{DFCC47FC-F68A-8564-602A-67418E33A6E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8" name="TextBox 8">
              <a:extLst>
                <a:ext uri="{FF2B5EF4-FFF2-40B4-BE49-F238E27FC236}">
                  <a16:creationId xmlns:a16="http://schemas.microsoft.com/office/drawing/2014/main" id="{EE2F1FB2-2553-AEF3-724E-FBCDBD06439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96A36647-5CA3-CA8D-3145-DD3101C26AB5}"/>
              </a:ext>
            </a:extLst>
          </p:cNvPr>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pic>
        <p:nvPicPr>
          <p:cNvPr id="13" name="Picture 12">
            <a:extLst>
              <a:ext uri="{FF2B5EF4-FFF2-40B4-BE49-F238E27FC236}">
                <a16:creationId xmlns:a16="http://schemas.microsoft.com/office/drawing/2014/main" id="{916685AB-C99E-9510-32D8-F78BD838438A}"/>
              </a:ext>
            </a:extLst>
          </p:cNvPr>
          <p:cNvPicPr>
            <a:picLocks noChangeAspect="1"/>
          </p:cNvPicPr>
          <p:nvPr/>
        </p:nvPicPr>
        <p:blipFill>
          <a:blip r:embed="rId6"/>
          <a:stretch>
            <a:fillRect/>
          </a:stretch>
        </p:blipFill>
        <p:spPr>
          <a:xfrm>
            <a:off x="779883" y="2723812"/>
            <a:ext cx="16728234" cy="4839375"/>
          </a:xfrm>
          <a:prstGeom prst="rect">
            <a:avLst/>
          </a:prstGeom>
        </p:spPr>
      </p:pic>
    </p:spTree>
    <p:extLst>
      <p:ext uri="{BB962C8B-B14F-4D97-AF65-F5344CB8AC3E}">
        <p14:creationId xmlns:p14="http://schemas.microsoft.com/office/powerpoint/2010/main" val="3057427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82767" y="-5597711"/>
            <a:ext cx="20100413" cy="17615271"/>
          </a:xfrm>
          <a:custGeom>
            <a:avLst/>
            <a:gdLst/>
            <a:ahLst/>
            <a:cxnLst/>
            <a:rect l="l" t="t" r="r" b="b"/>
            <a:pathLst>
              <a:path w="20100413" h="17615271">
                <a:moveTo>
                  <a:pt x="20100414" y="17615272"/>
                </a:moveTo>
                <a:lnTo>
                  <a:pt x="0" y="17615272"/>
                </a:lnTo>
                <a:lnTo>
                  <a:pt x="0" y="0"/>
                </a:lnTo>
                <a:lnTo>
                  <a:pt x="20100414" y="0"/>
                </a:lnTo>
                <a:lnTo>
                  <a:pt x="20100414" y="17615272"/>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673876" y="878222"/>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223842"/>
            <a:ext cx="16230600" cy="1986083"/>
          </a:xfrm>
          <a:prstGeom prst="rect">
            <a:avLst/>
          </a:prstGeom>
        </p:spPr>
        <p:txBody>
          <a:bodyPr lIns="0" tIns="0" rIns="0" bIns="0" rtlCol="0" anchor="t">
            <a:spAutoFit/>
          </a:bodyPr>
          <a:lstStyle/>
          <a:p>
            <a:pPr marL="0" lvl="0" indent="0" algn="l">
              <a:lnSpc>
                <a:spcPts val="15244"/>
              </a:lnSpc>
            </a:pPr>
            <a:r>
              <a:rPr lang="en-US" sz="13985" b="1" spc="-909">
                <a:solidFill>
                  <a:srgbClr val="152047"/>
                </a:solidFill>
                <a:latin typeface="Open Sauce Bold"/>
                <a:ea typeface="Open Sauce Bold"/>
                <a:cs typeface="Open Sauce Bold"/>
                <a:sym typeface="Open Sauce Bold"/>
              </a:rPr>
              <a:t>AI Techniques</a:t>
            </a:r>
          </a:p>
        </p:txBody>
      </p:sp>
      <p:sp>
        <p:nvSpPr>
          <p:cNvPr id="7" name="TextBox 7"/>
          <p:cNvSpPr txBox="1"/>
          <p:nvPr/>
        </p:nvSpPr>
        <p:spPr>
          <a:xfrm>
            <a:off x="1028700" y="4762500"/>
            <a:ext cx="6657528" cy="790575"/>
          </a:xfrm>
          <a:prstGeom prst="rect">
            <a:avLst/>
          </a:prstGeom>
        </p:spPr>
        <p:txBody>
          <a:bodyPr lIns="0" tIns="0" rIns="0" bIns="0" rtlCol="0" anchor="t">
            <a:spAutoFit/>
          </a:bodyPr>
          <a:lstStyle/>
          <a:p>
            <a:pPr marL="0" lvl="0" indent="0" algn="l">
              <a:lnSpc>
                <a:spcPts val="3119"/>
              </a:lnSpc>
            </a:pPr>
            <a:r>
              <a:rPr lang="en-US" sz="2599">
                <a:solidFill>
                  <a:srgbClr val="152047"/>
                </a:solidFill>
                <a:latin typeface="Aileron"/>
                <a:ea typeface="Aileron"/>
                <a:cs typeface="Aileron"/>
                <a:sym typeface="Aileron"/>
              </a:rPr>
              <a:t>Three models were implemented to ensure robust evaluation</a:t>
            </a:r>
          </a:p>
        </p:txBody>
      </p:sp>
      <p:sp>
        <p:nvSpPr>
          <p:cNvPr id="8" name="TextBox 8"/>
          <p:cNvSpPr txBox="1"/>
          <p:nvPr/>
        </p:nvSpPr>
        <p:spPr>
          <a:xfrm>
            <a:off x="1028700" y="4159265"/>
            <a:ext cx="6733463" cy="451104"/>
          </a:xfrm>
          <a:prstGeom prst="rect">
            <a:avLst/>
          </a:prstGeom>
        </p:spPr>
        <p:txBody>
          <a:bodyPr lIns="0" tIns="0" rIns="0" bIns="0" rtlCol="0" anchor="t">
            <a:spAutoFit/>
          </a:bodyPr>
          <a:lstStyle/>
          <a:p>
            <a:pPr marL="0" lvl="0" indent="0" algn="l">
              <a:lnSpc>
                <a:spcPts val="3332"/>
              </a:lnSpc>
            </a:pPr>
            <a:r>
              <a:rPr lang="en-US" sz="3299" b="1">
                <a:solidFill>
                  <a:srgbClr val="152047"/>
                </a:solidFill>
                <a:latin typeface="Aileron Bold"/>
                <a:ea typeface="Aileron Bold"/>
                <a:cs typeface="Aileron Bold"/>
                <a:sym typeface="Aileron Bold"/>
              </a:rPr>
              <a:t>Compara</a:t>
            </a:r>
            <a:r>
              <a:rPr lang="en-US" sz="3299" b="1" u="none" strike="noStrike">
                <a:solidFill>
                  <a:srgbClr val="152047"/>
                </a:solidFill>
                <a:latin typeface="Aileron Bold"/>
                <a:ea typeface="Aileron Bold"/>
                <a:cs typeface="Aileron Bold"/>
                <a:sym typeface="Aileron Bold"/>
              </a:rPr>
              <a:t>tive Modelling Approach</a:t>
            </a:r>
          </a:p>
        </p:txBody>
      </p:sp>
      <p:sp>
        <p:nvSpPr>
          <p:cNvPr id="9" name="TextBox 9"/>
          <p:cNvSpPr txBox="1"/>
          <p:nvPr/>
        </p:nvSpPr>
        <p:spPr>
          <a:xfrm>
            <a:off x="1014777" y="6300353"/>
            <a:ext cx="6733463" cy="336550"/>
          </a:xfrm>
          <a:prstGeom prst="rect">
            <a:avLst/>
          </a:prstGeom>
        </p:spPr>
        <p:txBody>
          <a:bodyPr lIns="0" tIns="0" rIns="0" bIns="0" rtlCol="0" anchor="t">
            <a:spAutoFit/>
          </a:bodyPr>
          <a:lstStyle/>
          <a:p>
            <a:pPr marL="539748" lvl="1" indent="-269874" algn="l">
              <a:lnSpc>
                <a:spcPts val="2524"/>
              </a:lnSpc>
              <a:buFont typeface="Arial"/>
              <a:buChar char="•"/>
            </a:pPr>
            <a:r>
              <a:rPr lang="en-US" sz="2499">
                <a:solidFill>
                  <a:srgbClr val="152047"/>
                </a:solidFill>
                <a:latin typeface="Aileron"/>
                <a:ea typeface="Aileron"/>
                <a:cs typeface="Aileron"/>
                <a:sym typeface="Aileron"/>
              </a:rPr>
              <a:t>LOGISTIC REGRESSION</a:t>
            </a:r>
          </a:p>
        </p:txBody>
      </p:sp>
      <p:sp>
        <p:nvSpPr>
          <p:cNvPr id="10" name="TextBox 10"/>
          <p:cNvSpPr txBox="1"/>
          <p:nvPr/>
        </p:nvSpPr>
        <p:spPr>
          <a:xfrm>
            <a:off x="1014777" y="7082765"/>
            <a:ext cx="6733463" cy="336550"/>
          </a:xfrm>
          <a:prstGeom prst="rect">
            <a:avLst/>
          </a:prstGeom>
        </p:spPr>
        <p:txBody>
          <a:bodyPr lIns="0" tIns="0" rIns="0" bIns="0" rtlCol="0" anchor="t">
            <a:spAutoFit/>
          </a:bodyPr>
          <a:lstStyle/>
          <a:p>
            <a:pPr marL="539749" lvl="1" indent="-269875" algn="l">
              <a:lnSpc>
                <a:spcPts val="2524"/>
              </a:lnSpc>
              <a:spcBef>
                <a:spcPct val="0"/>
              </a:spcBef>
              <a:buFont typeface="Arial"/>
              <a:buChar char="•"/>
            </a:pPr>
            <a:r>
              <a:rPr lang="en-US" sz="2499">
                <a:solidFill>
                  <a:srgbClr val="152047"/>
                </a:solidFill>
                <a:latin typeface="Aileron"/>
                <a:ea typeface="Aileron"/>
                <a:cs typeface="Aileron"/>
                <a:sym typeface="Aileron"/>
              </a:rPr>
              <a:t>RANDOM FOREST</a:t>
            </a:r>
          </a:p>
        </p:txBody>
      </p:sp>
      <p:sp>
        <p:nvSpPr>
          <p:cNvPr id="11" name="AutoShape 11"/>
          <p:cNvSpPr/>
          <p:nvPr/>
        </p:nvSpPr>
        <p:spPr>
          <a:xfrm>
            <a:off x="1014777" y="6018639"/>
            <a:ext cx="16375695" cy="0"/>
          </a:xfrm>
          <a:prstGeom prst="line">
            <a:avLst/>
          </a:prstGeom>
          <a:ln w="9525" cap="flat">
            <a:gradFill>
              <a:gsLst>
                <a:gs pos="0">
                  <a:srgbClr val="101B3B">
                    <a:alpha val="63000"/>
                  </a:srgbClr>
                </a:gs>
                <a:gs pos="100000">
                  <a:srgbClr val="243472">
                    <a:alpha val="63000"/>
                  </a:srgbClr>
                </a:gs>
              </a:gsLst>
              <a:lin ang="0"/>
            </a:gradFill>
            <a:prstDash val="solid"/>
            <a:headEnd type="none" w="sm" len="sm"/>
            <a:tailEnd type="none" w="sm" len="sm"/>
          </a:ln>
        </p:spPr>
        <p:txBody>
          <a:bodyPr/>
          <a:lstStyle/>
          <a:p>
            <a:endParaRPr lang="LID4096"/>
          </a:p>
        </p:txBody>
      </p:sp>
      <p:sp>
        <p:nvSpPr>
          <p:cNvPr id="12" name="AutoShape 12"/>
          <p:cNvSpPr/>
          <p:nvPr/>
        </p:nvSpPr>
        <p:spPr>
          <a:xfrm>
            <a:off x="1014777" y="6801051"/>
            <a:ext cx="16375695" cy="0"/>
          </a:xfrm>
          <a:prstGeom prst="line">
            <a:avLst/>
          </a:prstGeom>
          <a:ln w="9525" cap="flat">
            <a:gradFill>
              <a:gsLst>
                <a:gs pos="0">
                  <a:srgbClr val="101B3B">
                    <a:alpha val="63000"/>
                  </a:srgbClr>
                </a:gs>
                <a:gs pos="100000">
                  <a:srgbClr val="243472">
                    <a:alpha val="63000"/>
                  </a:srgbClr>
                </a:gs>
              </a:gsLst>
              <a:lin ang="0"/>
            </a:gradFill>
            <a:prstDash val="solid"/>
            <a:headEnd type="none" w="sm" len="sm"/>
            <a:tailEnd type="none" w="sm" len="sm"/>
          </a:ln>
        </p:spPr>
        <p:txBody>
          <a:bodyPr/>
          <a:lstStyle/>
          <a:p>
            <a:endParaRPr lang="LID4096"/>
          </a:p>
        </p:txBody>
      </p:sp>
      <p:sp>
        <p:nvSpPr>
          <p:cNvPr id="13" name="TextBox 13"/>
          <p:cNvSpPr txBox="1"/>
          <p:nvPr/>
        </p:nvSpPr>
        <p:spPr>
          <a:xfrm>
            <a:off x="1014777" y="7865177"/>
            <a:ext cx="6733463" cy="336550"/>
          </a:xfrm>
          <a:prstGeom prst="rect">
            <a:avLst/>
          </a:prstGeom>
        </p:spPr>
        <p:txBody>
          <a:bodyPr lIns="0" tIns="0" rIns="0" bIns="0" rtlCol="0" anchor="t">
            <a:spAutoFit/>
          </a:bodyPr>
          <a:lstStyle/>
          <a:p>
            <a:pPr marL="539749" lvl="1" indent="-269875" algn="l">
              <a:lnSpc>
                <a:spcPts val="2524"/>
              </a:lnSpc>
              <a:spcBef>
                <a:spcPct val="0"/>
              </a:spcBef>
              <a:buFont typeface="Arial"/>
              <a:buChar char="•"/>
            </a:pPr>
            <a:r>
              <a:rPr lang="en-US" sz="2499">
                <a:solidFill>
                  <a:srgbClr val="152047"/>
                </a:solidFill>
                <a:latin typeface="Aileron"/>
                <a:ea typeface="Aileron"/>
                <a:cs typeface="Aileron"/>
                <a:sym typeface="Aileron"/>
              </a:rPr>
              <a:t>XGBOOST</a:t>
            </a:r>
          </a:p>
        </p:txBody>
      </p:sp>
      <p:sp>
        <p:nvSpPr>
          <p:cNvPr id="14" name="AutoShape 14"/>
          <p:cNvSpPr/>
          <p:nvPr/>
        </p:nvSpPr>
        <p:spPr>
          <a:xfrm>
            <a:off x="1014777" y="7583463"/>
            <a:ext cx="16375695" cy="0"/>
          </a:xfrm>
          <a:prstGeom prst="line">
            <a:avLst/>
          </a:prstGeom>
          <a:ln w="9525" cap="flat">
            <a:gradFill>
              <a:gsLst>
                <a:gs pos="0">
                  <a:srgbClr val="101B3B">
                    <a:alpha val="63000"/>
                  </a:srgbClr>
                </a:gs>
                <a:gs pos="100000">
                  <a:srgbClr val="243472">
                    <a:alpha val="63000"/>
                  </a:srgbClr>
                </a:gs>
              </a:gsLst>
              <a:lin ang="0"/>
            </a:gradFill>
            <a:prstDash val="solid"/>
            <a:headEnd type="none" w="sm" len="sm"/>
            <a:tailEnd type="none" w="sm" len="sm"/>
          </a:ln>
        </p:spPr>
        <p:txBody>
          <a:bodyPr/>
          <a:lstStyle/>
          <a:p>
            <a:endParaRPr lang="LID4096"/>
          </a:p>
        </p:txBody>
      </p:sp>
      <p:sp>
        <p:nvSpPr>
          <p:cNvPr id="15" name="AutoShape 15"/>
          <p:cNvSpPr/>
          <p:nvPr/>
        </p:nvSpPr>
        <p:spPr>
          <a:xfrm>
            <a:off x="1014777" y="8360820"/>
            <a:ext cx="16375695" cy="0"/>
          </a:xfrm>
          <a:prstGeom prst="line">
            <a:avLst/>
          </a:prstGeom>
          <a:ln w="9525" cap="flat">
            <a:gradFill>
              <a:gsLst>
                <a:gs pos="0">
                  <a:srgbClr val="101B3B">
                    <a:alpha val="63000"/>
                  </a:srgbClr>
                </a:gs>
                <a:gs pos="100000">
                  <a:srgbClr val="243472">
                    <a:alpha val="63000"/>
                  </a:srgbClr>
                </a:gs>
              </a:gsLst>
              <a:lin ang="0"/>
            </a:gradFill>
            <a:prstDash val="solid"/>
            <a:headEnd type="none" w="sm" len="sm"/>
            <a:tailEnd type="none" w="sm" len="sm"/>
          </a:ln>
        </p:spPr>
        <p:txBody>
          <a:bodyPr/>
          <a:lstStyle/>
          <a:p>
            <a:endParaRPr lang="LID4096"/>
          </a:p>
        </p:txBody>
      </p:sp>
      <p:sp>
        <p:nvSpPr>
          <p:cNvPr id="16" name="Freeform 16"/>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1933082" y="166586"/>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67389"/>
            <a:ext cx="14958117" cy="1701165"/>
          </a:xfrm>
          <a:prstGeom prst="rect">
            <a:avLst/>
          </a:prstGeom>
        </p:spPr>
        <p:txBody>
          <a:bodyPr lIns="0" tIns="0" rIns="0" bIns="0" rtlCol="0" anchor="t">
            <a:spAutoFit/>
          </a:bodyPr>
          <a:lstStyle/>
          <a:p>
            <a:pPr marL="0" lvl="0" indent="0" algn="l">
              <a:lnSpc>
                <a:spcPts val="13080"/>
              </a:lnSpc>
            </a:pPr>
            <a:r>
              <a:rPr lang="en-US" sz="12000" b="1" spc="-780">
                <a:solidFill>
                  <a:srgbClr val="152047"/>
                </a:solidFill>
                <a:latin typeface="Open Sauce Bold"/>
                <a:ea typeface="Open Sauce Bold"/>
                <a:cs typeface="Open Sauce Bold"/>
                <a:sym typeface="Open Sauce Bold"/>
              </a:rPr>
              <a:t>Logistic Regression</a:t>
            </a:r>
          </a:p>
        </p:txBody>
      </p:sp>
      <p:sp>
        <p:nvSpPr>
          <p:cNvPr id="7" name="Freeform 7"/>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8" name="TextBox 8"/>
          <p:cNvSpPr txBox="1"/>
          <p:nvPr/>
        </p:nvSpPr>
        <p:spPr>
          <a:xfrm>
            <a:off x="1028700" y="3305058"/>
            <a:ext cx="15956728" cy="6553581"/>
          </a:xfrm>
          <a:prstGeom prst="rect">
            <a:avLst/>
          </a:prstGeom>
        </p:spPr>
        <p:txBody>
          <a:bodyPr lIns="0" tIns="0" rIns="0" bIns="0" rtlCol="0" anchor="t">
            <a:spAutoFit/>
          </a:bodyPr>
          <a:lstStyle/>
          <a:p>
            <a:pPr algn="just">
              <a:lnSpc>
                <a:spcPts val="4001"/>
              </a:lnSpc>
            </a:pPr>
            <a:r>
              <a:rPr lang="en-US" sz="2899">
                <a:solidFill>
                  <a:srgbClr val="152047"/>
                </a:solidFill>
                <a:latin typeface="Aileron"/>
                <a:ea typeface="Aileron"/>
                <a:cs typeface="Aileron"/>
                <a:sym typeface="Aileron"/>
              </a:rPr>
              <a:t>Logistic Regression was implemented as the baseline model due to its simplicity, efficiency, and high level of interpretability. It models the relationship between input features and the probability of a student being at risk using a linear decision boundary.</a:t>
            </a:r>
          </a:p>
          <a:p>
            <a:pPr algn="just">
              <a:lnSpc>
                <a:spcPts val="4001"/>
              </a:lnSpc>
            </a:pPr>
            <a:r>
              <a:rPr lang="en-US" sz="2899">
                <a:solidFill>
                  <a:srgbClr val="152047"/>
                </a:solidFill>
                <a:latin typeface="Aileron"/>
                <a:ea typeface="Aileron"/>
                <a:cs typeface="Aileron"/>
                <a:sym typeface="Aileron"/>
              </a:rPr>
              <a:t>Key Characteristics</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Provides clear feature coefficients, allowing us to understand how each variable influences the prediction</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Computationally efficient and easy to implement</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Serves as a benchmark for comparing more complex models</a:t>
            </a:r>
          </a:p>
          <a:p>
            <a:pPr algn="just">
              <a:lnSpc>
                <a:spcPts val="4001"/>
              </a:lnSpc>
            </a:pPr>
            <a:r>
              <a:rPr lang="en-US" sz="2899">
                <a:solidFill>
                  <a:srgbClr val="152047"/>
                </a:solidFill>
                <a:latin typeface="Aileron"/>
                <a:ea typeface="Aileron"/>
                <a:cs typeface="Aileron"/>
                <a:sym typeface="Aileron"/>
              </a:rPr>
              <a:t>Limitations</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Assumes a linear relationship between features and the outcome</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Unable to effectively capture complex, non-linear interactions present in real-world academic data</a:t>
            </a:r>
          </a:p>
          <a:p>
            <a:pPr marL="0" lvl="0" indent="0" algn="just">
              <a:lnSpc>
                <a:spcPts val="4001"/>
              </a:lnSpc>
            </a:pPr>
            <a:endParaRPr lang="en-US" sz="2899">
              <a:solidFill>
                <a:srgbClr val="152047"/>
              </a:solidFill>
              <a:latin typeface="Aileron"/>
              <a:ea typeface="Aileron"/>
              <a:cs typeface="Aileron"/>
              <a:sym typeface="Ailero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271055" y="-31743"/>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67389"/>
            <a:ext cx="14958117" cy="1701165"/>
          </a:xfrm>
          <a:prstGeom prst="rect">
            <a:avLst/>
          </a:prstGeom>
        </p:spPr>
        <p:txBody>
          <a:bodyPr lIns="0" tIns="0" rIns="0" bIns="0" rtlCol="0" anchor="t">
            <a:spAutoFit/>
          </a:bodyPr>
          <a:lstStyle/>
          <a:p>
            <a:pPr marL="0" lvl="0" indent="0" algn="l">
              <a:lnSpc>
                <a:spcPts val="13080"/>
              </a:lnSpc>
            </a:pPr>
            <a:r>
              <a:rPr lang="en-US" sz="12000" b="1" spc="-780">
                <a:solidFill>
                  <a:srgbClr val="152047"/>
                </a:solidFill>
                <a:latin typeface="Open Sauce Bold"/>
                <a:ea typeface="Open Sauce Bold"/>
                <a:cs typeface="Open Sauce Bold"/>
                <a:sym typeface="Open Sauce Bold"/>
              </a:rPr>
              <a:t>Random Forest</a:t>
            </a:r>
          </a:p>
        </p:txBody>
      </p:sp>
      <p:sp>
        <p:nvSpPr>
          <p:cNvPr id="7" name="Freeform 7"/>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8" name="TextBox 8"/>
          <p:cNvSpPr txBox="1"/>
          <p:nvPr/>
        </p:nvSpPr>
        <p:spPr>
          <a:xfrm>
            <a:off x="1028700" y="3305058"/>
            <a:ext cx="15956728" cy="7058406"/>
          </a:xfrm>
          <a:prstGeom prst="rect">
            <a:avLst/>
          </a:prstGeom>
        </p:spPr>
        <p:txBody>
          <a:bodyPr lIns="0" tIns="0" rIns="0" bIns="0" rtlCol="0" anchor="t">
            <a:spAutoFit/>
          </a:bodyPr>
          <a:lstStyle/>
          <a:p>
            <a:pPr algn="just">
              <a:lnSpc>
                <a:spcPts val="4001"/>
              </a:lnSpc>
            </a:pPr>
            <a:r>
              <a:rPr lang="en-US" sz="2899">
                <a:solidFill>
                  <a:srgbClr val="152047"/>
                </a:solidFill>
                <a:latin typeface="Aileron"/>
                <a:ea typeface="Aileron"/>
                <a:cs typeface="Aileron"/>
                <a:sym typeface="Aileron"/>
              </a:rPr>
              <a:t>Random Forest is an ensemble learning technique that constructs multiple decision trees and aggregates their outputs to produce a final prediction. This approach improves generalisation and reduces overfitting.</a:t>
            </a:r>
          </a:p>
          <a:p>
            <a:pPr algn="just">
              <a:lnSpc>
                <a:spcPts val="4001"/>
              </a:lnSpc>
            </a:pPr>
            <a:r>
              <a:rPr lang="en-US" sz="2899">
                <a:solidFill>
                  <a:srgbClr val="152047"/>
                </a:solidFill>
                <a:latin typeface="Aileron"/>
                <a:ea typeface="Aileron"/>
                <a:cs typeface="Aileron"/>
                <a:sym typeface="Aileron"/>
              </a:rPr>
              <a:t>Key Characteristics</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Captures complex, non-linear relationships between features</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Robust to noise and variability in the dataset</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Handles feature interactions effectively without requiring manual specification</a:t>
            </a:r>
          </a:p>
          <a:p>
            <a:pPr algn="just">
              <a:lnSpc>
                <a:spcPts val="4001"/>
              </a:lnSpc>
            </a:pPr>
            <a:r>
              <a:rPr lang="en-US" sz="2899">
                <a:solidFill>
                  <a:srgbClr val="152047"/>
                </a:solidFill>
                <a:latin typeface="Aileron"/>
                <a:ea typeface="Aileron"/>
                <a:cs typeface="Aileron"/>
                <a:sym typeface="Aileron"/>
              </a:rPr>
              <a:t>Performance Advantage</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Achieved the highest performance in this project</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Demonstrated strong classification capability with high ROC-AUC score</a:t>
            </a:r>
          </a:p>
          <a:p>
            <a:pPr algn="just">
              <a:lnSpc>
                <a:spcPts val="4001"/>
              </a:lnSpc>
            </a:pPr>
            <a:r>
              <a:rPr lang="en-US" sz="2899">
                <a:solidFill>
                  <a:srgbClr val="152047"/>
                </a:solidFill>
                <a:latin typeface="Aileron"/>
                <a:ea typeface="Aileron"/>
                <a:cs typeface="Aileron"/>
                <a:sym typeface="Aileron"/>
              </a:rPr>
              <a:t>Interpretability</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Provides feature importance scores</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More interpretable than boosting models but less than linear models</a:t>
            </a:r>
          </a:p>
          <a:p>
            <a:pPr marL="0" lvl="0" indent="0" algn="just">
              <a:lnSpc>
                <a:spcPts val="4001"/>
              </a:lnSpc>
            </a:pPr>
            <a:endParaRPr lang="en-US" sz="2899">
              <a:solidFill>
                <a:srgbClr val="152047"/>
              </a:solidFill>
              <a:latin typeface="Aileron"/>
              <a:ea typeface="Aileron"/>
              <a:cs typeface="Aileron"/>
              <a:sym typeface="Ailero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4504405" y="505910"/>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67389"/>
            <a:ext cx="14958117" cy="1701165"/>
          </a:xfrm>
          <a:prstGeom prst="rect">
            <a:avLst/>
          </a:prstGeom>
        </p:spPr>
        <p:txBody>
          <a:bodyPr lIns="0" tIns="0" rIns="0" bIns="0" rtlCol="0" anchor="t">
            <a:spAutoFit/>
          </a:bodyPr>
          <a:lstStyle/>
          <a:p>
            <a:pPr marL="0" lvl="0" indent="0" algn="l">
              <a:lnSpc>
                <a:spcPts val="13080"/>
              </a:lnSpc>
            </a:pPr>
            <a:r>
              <a:rPr lang="en-US" sz="12000" b="1" spc="-780">
                <a:solidFill>
                  <a:srgbClr val="152047"/>
                </a:solidFill>
                <a:latin typeface="Open Sauce Bold"/>
                <a:ea typeface="Open Sauce Bold"/>
                <a:cs typeface="Open Sauce Bold"/>
                <a:sym typeface="Open Sauce Bold"/>
              </a:rPr>
              <a:t>XGBoost</a:t>
            </a:r>
          </a:p>
        </p:txBody>
      </p:sp>
      <p:sp>
        <p:nvSpPr>
          <p:cNvPr id="7" name="Freeform 7"/>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8" name="TextBox 8"/>
          <p:cNvSpPr txBox="1"/>
          <p:nvPr/>
        </p:nvSpPr>
        <p:spPr>
          <a:xfrm>
            <a:off x="1028700" y="3305058"/>
            <a:ext cx="15956728" cy="6553581"/>
          </a:xfrm>
          <a:prstGeom prst="rect">
            <a:avLst/>
          </a:prstGeom>
        </p:spPr>
        <p:txBody>
          <a:bodyPr lIns="0" tIns="0" rIns="0" bIns="0" rtlCol="0" anchor="t">
            <a:spAutoFit/>
          </a:bodyPr>
          <a:lstStyle/>
          <a:p>
            <a:pPr algn="just">
              <a:lnSpc>
                <a:spcPts val="4001"/>
              </a:lnSpc>
            </a:pPr>
            <a:r>
              <a:rPr lang="en-US" sz="2899">
                <a:solidFill>
                  <a:srgbClr val="152047"/>
                </a:solidFill>
                <a:latin typeface="Aileron"/>
                <a:ea typeface="Aileron"/>
                <a:cs typeface="Aileron"/>
                <a:sym typeface="Aileron"/>
              </a:rPr>
              <a:t>XGBoost is an advanced boosting algorithm that builds models sequentially, where each new model attempts to correct the errors of the previous one. This iterative learning process enables high predictive accuracy.</a:t>
            </a:r>
          </a:p>
          <a:p>
            <a:pPr algn="just">
              <a:lnSpc>
                <a:spcPts val="4001"/>
              </a:lnSpc>
            </a:pPr>
            <a:r>
              <a:rPr lang="en-US" sz="2899">
                <a:solidFill>
                  <a:srgbClr val="152047"/>
                </a:solidFill>
                <a:latin typeface="Aileron"/>
                <a:ea typeface="Aileron"/>
                <a:cs typeface="Aileron"/>
                <a:sym typeface="Aileron"/>
              </a:rPr>
              <a:t>Key Characteristics</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Strong ability to capture complex patterns in structured data</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Incorporates regularisation techniques to reduce overfitting</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Efficient and widely used in real-world predictive modelling</a:t>
            </a:r>
          </a:p>
          <a:p>
            <a:pPr algn="just">
              <a:lnSpc>
                <a:spcPts val="4001"/>
              </a:lnSpc>
            </a:pPr>
            <a:r>
              <a:rPr lang="en-US" sz="2899">
                <a:solidFill>
                  <a:srgbClr val="152047"/>
                </a:solidFill>
                <a:latin typeface="Aileron"/>
                <a:ea typeface="Aileron"/>
                <a:cs typeface="Aileron"/>
                <a:sym typeface="Aileron"/>
              </a:rPr>
              <a:t>Performance</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Achieved high predictive performance, second only to Random Forest in this project</a:t>
            </a:r>
          </a:p>
          <a:p>
            <a:pPr algn="just">
              <a:lnSpc>
                <a:spcPts val="4001"/>
              </a:lnSpc>
            </a:pPr>
            <a:r>
              <a:rPr lang="en-US" sz="2899">
                <a:solidFill>
                  <a:srgbClr val="152047"/>
                </a:solidFill>
                <a:latin typeface="Aileron"/>
                <a:ea typeface="Aileron"/>
                <a:cs typeface="Aileron"/>
                <a:sym typeface="Aileron"/>
              </a:rPr>
              <a:t>Limitations</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Increased complexity compared to other models</a:t>
            </a:r>
          </a:p>
          <a:p>
            <a:pPr marL="626109" lvl="1" indent="-313054" algn="just">
              <a:lnSpc>
                <a:spcPts val="4001"/>
              </a:lnSpc>
              <a:buFont typeface="Arial"/>
              <a:buChar char="•"/>
            </a:pPr>
            <a:r>
              <a:rPr lang="en-US" sz="2899">
                <a:solidFill>
                  <a:srgbClr val="152047"/>
                </a:solidFill>
                <a:latin typeface="Aileron"/>
                <a:ea typeface="Aileron"/>
                <a:cs typeface="Aileron"/>
                <a:sym typeface="Aileron"/>
              </a:rPr>
              <a:t>Reduced interpretability due to ensemble boosting structure</a:t>
            </a:r>
          </a:p>
          <a:p>
            <a:pPr marL="0" lvl="0" indent="0" algn="just">
              <a:lnSpc>
                <a:spcPts val="4001"/>
              </a:lnSpc>
            </a:pPr>
            <a:endParaRPr lang="en-US" sz="2899">
              <a:solidFill>
                <a:srgbClr val="152047"/>
              </a:solidFill>
              <a:latin typeface="Aileron"/>
              <a:ea typeface="Aileron"/>
              <a:cs typeface="Aileron"/>
              <a:sym typeface="Ailero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622073" y="-5172296"/>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686575" y="-581660"/>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7" name="Freeform 7"/>
          <p:cNvSpPr/>
          <p:nvPr/>
        </p:nvSpPr>
        <p:spPr>
          <a:xfrm>
            <a:off x="4465272" y="1113738"/>
            <a:ext cx="9357456" cy="8154359"/>
          </a:xfrm>
          <a:custGeom>
            <a:avLst/>
            <a:gdLst/>
            <a:ahLst/>
            <a:cxnLst/>
            <a:rect l="l" t="t" r="r" b="b"/>
            <a:pathLst>
              <a:path w="11004053" h="8693202">
                <a:moveTo>
                  <a:pt x="0" y="0"/>
                </a:moveTo>
                <a:lnTo>
                  <a:pt x="11004052" y="0"/>
                </a:lnTo>
                <a:lnTo>
                  <a:pt x="11004052" y="8693202"/>
                </a:lnTo>
                <a:lnTo>
                  <a:pt x="0" y="8693202"/>
                </a:lnTo>
                <a:lnTo>
                  <a:pt x="0" y="0"/>
                </a:lnTo>
                <a:close/>
              </a:path>
            </a:pathLst>
          </a:custGeom>
          <a:blipFill>
            <a:blip r:embed="rId6"/>
            <a:stretch>
              <a:fillRect/>
            </a:stretch>
          </a:blipFill>
        </p:spPr>
        <p:txBody>
          <a:bodyPr/>
          <a:lstStyle/>
          <a:p>
            <a:endParaRPr lang="LID4096"/>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598A4-314D-9CA5-4038-FECB54460D4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8F5A2F4-CE18-6209-B73E-3A9AC0DA87A6}"/>
              </a:ext>
            </a:extLst>
          </p:cNvPr>
          <p:cNvSpPr/>
          <p:nvPr/>
        </p:nvSpPr>
        <p:spPr>
          <a:xfrm rot="-557702" flipH="1" flipV="1">
            <a:off x="-622073" y="-5172296"/>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a:extLst>
              <a:ext uri="{FF2B5EF4-FFF2-40B4-BE49-F238E27FC236}">
                <a16:creationId xmlns:a16="http://schemas.microsoft.com/office/drawing/2014/main" id="{DE233DA3-E44D-3218-1E79-5AE0646E539B}"/>
              </a:ext>
            </a:extLst>
          </p:cNvPr>
          <p:cNvGrpSpPr/>
          <p:nvPr/>
        </p:nvGrpSpPr>
        <p:grpSpPr>
          <a:xfrm>
            <a:off x="16241685" y="-266700"/>
            <a:ext cx="2757118" cy="2757118"/>
            <a:chOff x="0" y="0"/>
            <a:chExt cx="812800" cy="812800"/>
          </a:xfrm>
        </p:grpSpPr>
        <p:sp>
          <p:nvSpPr>
            <p:cNvPr id="4" name="Freeform 4">
              <a:extLst>
                <a:ext uri="{FF2B5EF4-FFF2-40B4-BE49-F238E27FC236}">
                  <a16:creationId xmlns:a16="http://schemas.microsoft.com/office/drawing/2014/main" id="{BC8B2926-B6B4-57F1-D575-1C8FC0CE2AA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a:extLst>
                <a:ext uri="{FF2B5EF4-FFF2-40B4-BE49-F238E27FC236}">
                  <a16:creationId xmlns:a16="http://schemas.microsoft.com/office/drawing/2014/main" id="{17FC9757-E802-56BF-6F6E-F63A18D98AA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a:extLst>
              <a:ext uri="{FF2B5EF4-FFF2-40B4-BE49-F238E27FC236}">
                <a16:creationId xmlns:a16="http://schemas.microsoft.com/office/drawing/2014/main" id="{FE07371A-F5A8-6D87-52A0-2C93DB9E09FF}"/>
              </a:ext>
            </a:extLst>
          </p:cNvPr>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pic>
        <p:nvPicPr>
          <p:cNvPr id="9" name="Picture 8">
            <a:extLst>
              <a:ext uri="{FF2B5EF4-FFF2-40B4-BE49-F238E27FC236}">
                <a16:creationId xmlns:a16="http://schemas.microsoft.com/office/drawing/2014/main" id="{ACFAFE11-5328-B5C2-1564-8EEDD2E740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99718" y="5658224"/>
            <a:ext cx="13888563" cy="4080007"/>
          </a:xfrm>
          <a:prstGeom prst="rect">
            <a:avLst/>
          </a:prstGeom>
        </p:spPr>
      </p:pic>
      <p:pic>
        <p:nvPicPr>
          <p:cNvPr id="8" name="Picture 7">
            <a:extLst>
              <a:ext uri="{FF2B5EF4-FFF2-40B4-BE49-F238E27FC236}">
                <a16:creationId xmlns:a16="http://schemas.microsoft.com/office/drawing/2014/main" id="{B8837373-71EA-F170-2022-8C4F5F471DF4}"/>
              </a:ext>
            </a:extLst>
          </p:cNvPr>
          <p:cNvPicPr>
            <a:picLocks noChangeAspect="1"/>
          </p:cNvPicPr>
          <p:nvPr/>
        </p:nvPicPr>
        <p:blipFill>
          <a:blip r:embed="rId7"/>
          <a:stretch>
            <a:fillRect/>
          </a:stretch>
        </p:blipFill>
        <p:spPr>
          <a:xfrm>
            <a:off x="2819400" y="419100"/>
            <a:ext cx="12288231" cy="4995216"/>
          </a:xfrm>
          <a:prstGeom prst="rect">
            <a:avLst/>
          </a:prstGeom>
        </p:spPr>
      </p:pic>
    </p:spTree>
    <p:extLst>
      <p:ext uri="{BB962C8B-B14F-4D97-AF65-F5344CB8AC3E}">
        <p14:creationId xmlns:p14="http://schemas.microsoft.com/office/powerpoint/2010/main" val="3605055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a:extLst>
            <a:ext uri="{FF2B5EF4-FFF2-40B4-BE49-F238E27FC236}">
              <a16:creationId xmlns:a16="http://schemas.microsoft.com/office/drawing/2014/main" id="{0E2A051D-498B-4C73-62C1-01C563CD995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413FD3-148E-C12D-79E1-90F4C9646E0C}"/>
              </a:ext>
            </a:extLst>
          </p:cNvPr>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a:extLst>
              <a:ext uri="{FF2B5EF4-FFF2-40B4-BE49-F238E27FC236}">
                <a16:creationId xmlns:a16="http://schemas.microsoft.com/office/drawing/2014/main" id="{DB4AFD9A-D462-C589-9A1A-9D4609ADEF63}"/>
              </a:ext>
            </a:extLst>
          </p:cNvPr>
          <p:cNvGrpSpPr/>
          <p:nvPr/>
        </p:nvGrpSpPr>
        <p:grpSpPr>
          <a:xfrm>
            <a:off x="14812711" y="732175"/>
            <a:ext cx="2757118" cy="2757118"/>
            <a:chOff x="0" y="0"/>
            <a:chExt cx="812800" cy="812800"/>
          </a:xfrm>
        </p:grpSpPr>
        <p:sp>
          <p:nvSpPr>
            <p:cNvPr id="4" name="Freeform 4">
              <a:extLst>
                <a:ext uri="{FF2B5EF4-FFF2-40B4-BE49-F238E27FC236}">
                  <a16:creationId xmlns:a16="http://schemas.microsoft.com/office/drawing/2014/main" id="{17B48679-8677-808C-A744-33F05258239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a:extLst>
                <a:ext uri="{FF2B5EF4-FFF2-40B4-BE49-F238E27FC236}">
                  <a16:creationId xmlns:a16="http://schemas.microsoft.com/office/drawing/2014/main" id="{CA5FFB65-43E5-1646-13F8-58DD73769F0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D8C54E4F-FA3E-7FCF-6BE2-DA0E54E662C6}"/>
              </a:ext>
            </a:extLst>
          </p:cNvPr>
          <p:cNvSpPr txBox="1"/>
          <p:nvPr/>
        </p:nvSpPr>
        <p:spPr>
          <a:xfrm>
            <a:off x="1028700" y="1585273"/>
            <a:ext cx="16230600" cy="1544445"/>
          </a:xfrm>
          <a:prstGeom prst="rect">
            <a:avLst/>
          </a:prstGeom>
        </p:spPr>
        <p:txBody>
          <a:bodyPr lIns="0" tIns="0" rIns="0" bIns="0" rtlCol="0" anchor="t">
            <a:spAutoFit/>
          </a:bodyPr>
          <a:lstStyle/>
          <a:p>
            <a:pPr marL="0" lvl="0" indent="0" algn="l">
              <a:lnSpc>
                <a:spcPts val="11999"/>
              </a:lnSpc>
            </a:pPr>
            <a:r>
              <a:rPr lang="en-US" sz="11008" b="1" spc="-715">
                <a:solidFill>
                  <a:srgbClr val="F8F6F7"/>
                </a:solidFill>
                <a:latin typeface="Open Sauce Bold"/>
                <a:ea typeface="Open Sauce Bold"/>
                <a:cs typeface="Open Sauce Bold"/>
                <a:sym typeface="Open Sauce Bold"/>
              </a:rPr>
              <a:t>Feature Importance</a:t>
            </a:r>
          </a:p>
        </p:txBody>
      </p:sp>
      <p:sp>
        <p:nvSpPr>
          <p:cNvPr id="7" name="TextBox 7">
            <a:extLst>
              <a:ext uri="{FF2B5EF4-FFF2-40B4-BE49-F238E27FC236}">
                <a16:creationId xmlns:a16="http://schemas.microsoft.com/office/drawing/2014/main" id="{A25CD7D9-BE20-6DDD-5779-D751F758DCDB}"/>
              </a:ext>
            </a:extLst>
          </p:cNvPr>
          <p:cNvSpPr txBox="1"/>
          <p:nvPr/>
        </p:nvSpPr>
        <p:spPr>
          <a:xfrm>
            <a:off x="1179093" y="4114132"/>
            <a:ext cx="13019326" cy="4674235"/>
          </a:xfrm>
          <a:prstGeom prst="rect">
            <a:avLst/>
          </a:prstGeom>
        </p:spPr>
        <p:txBody>
          <a:bodyPr lIns="0" tIns="0" rIns="0" bIns="0" rtlCol="0" anchor="t">
            <a:spAutoFit/>
          </a:bodyPr>
          <a:lstStyle/>
          <a:p>
            <a:pPr marL="626107" lvl="1" indent="-313054" algn="l">
              <a:lnSpc>
                <a:spcPts val="4059"/>
              </a:lnSpc>
              <a:buFont typeface="Arial"/>
              <a:buChar char="•"/>
            </a:pPr>
            <a:r>
              <a:rPr lang="en-US" sz="2899">
                <a:solidFill>
                  <a:srgbClr val="F8F6F7"/>
                </a:solidFill>
                <a:latin typeface="Aileron"/>
                <a:ea typeface="Aileron"/>
                <a:cs typeface="Aileron"/>
                <a:sym typeface="Aileron"/>
              </a:rPr>
              <a:t>As</a:t>
            </a:r>
            <a:r>
              <a:rPr lang="en-US" sz="2899" u="none" strike="noStrike">
                <a:solidFill>
                  <a:srgbClr val="F8F6F7"/>
                </a:solidFill>
                <a:latin typeface="Aileron"/>
                <a:ea typeface="Aileron"/>
                <a:cs typeface="Aileron"/>
                <a:sym typeface="Aileron"/>
              </a:rPr>
              <a:t>s</a:t>
            </a:r>
            <a:r>
              <a:rPr lang="en-US" sz="2899">
                <a:solidFill>
                  <a:srgbClr val="F8F6F7"/>
                </a:solidFill>
                <a:latin typeface="Aileron"/>
                <a:ea typeface="Aileron"/>
                <a:cs typeface="Aileron"/>
                <a:sym typeface="Aileron"/>
              </a:rPr>
              <a:t>i</a:t>
            </a:r>
            <a:r>
              <a:rPr lang="en-US" sz="2899" u="none" strike="noStrike">
                <a:solidFill>
                  <a:srgbClr val="F8F6F7"/>
                </a:solidFill>
                <a:latin typeface="Aileron"/>
                <a:ea typeface="Aileron"/>
                <a:cs typeface="Aileron"/>
                <a:sym typeface="Aileron"/>
              </a:rPr>
              <a:t>g</a:t>
            </a:r>
            <a:r>
              <a:rPr lang="en-US" sz="2899">
                <a:solidFill>
                  <a:srgbClr val="F8F6F7"/>
                </a:solidFill>
                <a:latin typeface="Aileron"/>
                <a:ea typeface="Aileron"/>
                <a:cs typeface="Aileron"/>
                <a:sym typeface="Aileron"/>
              </a:rPr>
              <a:t>n</a:t>
            </a:r>
            <a:r>
              <a:rPr lang="en-US" sz="2899" u="none" strike="noStrike">
                <a:solidFill>
                  <a:srgbClr val="F8F6F7"/>
                </a:solidFill>
                <a:latin typeface="Aileron"/>
                <a:ea typeface="Aileron"/>
                <a:cs typeface="Aileron"/>
                <a:sym typeface="Aileron"/>
              </a:rPr>
              <a:t>m</a:t>
            </a:r>
            <a:r>
              <a:rPr lang="en-US" sz="2899">
                <a:solidFill>
                  <a:srgbClr val="F8F6F7"/>
                </a:solidFill>
                <a:latin typeface="Aileron"/>
                <a:ea typeface="Aileron"/>
                <a:cs typeface="Aileron"/>
                <a:sym typeface="Aileron"/>
              </a:rPr>
              <a:t>ent performance </a:t>
            </a:r>
            <a:r>
              <a:rPr lang="en-US" sz="2899" u="none" strike="noStrike">
                <a:solidFill>
                  <a:srgbClr val="F8F6F7"/>
                </a:solidFill>
                <a:latin typeface="Aileron"/>
                <a:ea typeface="Aileron"/>
                <a:cs typeface="Aileron"/>
                <a:sym typeface="Aileron"/>
              </a:rPr>
              <a:t>is</a:t>
            </a:r>
            <a:r>
              <a:rPr lang="en-US" sz="2899">
                <a:solidFill>
                  <a:srgbClr val="F8F6F7"/>
                </a:solidFill>
                <a:latin typeface="Aileron"/>
                <a:ea typeface="Aileron"/>
                <a:cs typeface="Aileron"/>
                <a:sym typeface="Aileron"/>
              </a:rPr>
              <a:t> th</a:t>
            </a:r>
            <a:r>
              <a:rPr lang="en-US" sz="2899" u="none" strike="noStrike">
                <a:solidFill>
                  <a:srgbClr val="F8F6F7"/>
                </a:solidFill>
                <a:latin typeface="Aileron"/>
                <a:ea typeface="Aileron"/>
                <a:cs typeface="Aileron"/>
                <a:sym typeface="Aileron"/>
              </a:rPr>
              <a:t>e</a:t>
            </a:r>
            <a:r>
              <a:rPr lang="en-US" sz="2899">
                <a:solidFill>
                  <a:srgbClr val="F8F6F7"/>
                </a:solidFill>
                <a:latin typeface="Aileron"/>
                <a:ea typeface="Aileron"/>
                <a:cs typeface="Aileron"/>
                <a:sym typeface="Aileron"/>
              </a:rPr>
              <a:t> </a:t>
            </a:r>
            <a:r>
              <a:rPr lang="en-US" sz="2899" u="none" strike="noStrike">
                <a:solidFill>
                  <a:srgbClr val="F8F6F7"/>
                </a:solidFill>
                <a:latin typeface="Aileron"/>
                <a:ea typeface="Aileron"/>
                <a:cs typeface="Aileron"/>
                <a:sym typeface="Aileron"/>
              </a:rPr>
              <a:t>m</a:t>
            </a:r>
            <a:r>
              <a:rPr lang="en-US" sz="2899">
                <a:solidFill>
                  <a:srgbClr val="F8F6F7"/>
                </a:solidFill>
                <a:latin typeface="Aileron"/>
                <a:ea typeface="Aileron"/>
                <a:cs typeface="Aileron"/>
                <a:sym typeface="Aileron"/>
              </a:rPr>
              <a:t>o</a:t>
            </a:r>
            <a:r>
              <a:rPr lang="en-US" sz="2899" u="none" strike="noStrike">
                <a:solidFill>
                  <a:srgbClr val="F8F6F7"/>
                </a:solidFill>
                <a:latin typeface="Aileron"/>
                <a:ea typeface="Aileron"/>
                <a:cs typeface="Aileron"/>
                <a:sym typeface="Aileron"/>
              </a:rPr>
              <a:t>s</a:t>
            </a:r>
            <a:r>
              <a:rPr lang="en-US" sz="2899">
                <a:solidFill>
                  <a:srgbClr val="F8F6F7"/>
                </a:solidFill>
                <a:latin typeface="Aileron"/>
                <a:ea typeface="Aileron"/>
                <a:cs typeface="Aileron"/>
                <a:sym typeface="Aileron"/>
              </a:rPr>
              <a:t>t i</a:t>
            </a:r>
            <a:r>
              <a:rPr lang="en-US" sz="2899" u="none" strike="noStrike">
                <a:solidFill>
                  <a:srgbClr val="F8F6F7"/>
                </a:solidFill>
                <a:latin typeface="Aileron"/>
                <a:ea typeface="Aileron"/>
                <a:cs typeface="Aileron"/>
                <a:sym typeface="Aileron"/>
              </a:rPr>
              <a:t>nfluenti</a:t>
            </a:r>
            <a:r>
              <a:rPr lang="en-US" sz="2899">
                <a:solidFill>
                  <a:srgbClr val="F8F6F7"/>
                </a:solidFill>
                <a:latin typeface="Aileron"/>
                <a:ea typeface="Aileron"/>
                <a:cs typeface="Aileron"/>
                <a:sym typeface="Aileron"/>
              </a:rPr>
              <a:t>al</a:t>
            </a:r>
            <a:r>
              <a:rPr lang="en-US" sz="2899" u="none" strike="noStrike">
                <a:solidFill>
                  <a:srgbClr val="F8F6F7"/>
                </a:solidFill>
                <a:latin typeface="Aileron"/>
                <a:ea typeface="Aileron"/>
                <a:cs typeface="Aileron"/>
                <a:sym typeface="Aileron"/>
              </a:rPr>
              <a:t> fe</a:t>
            </a:r>
            <a:r>
              <a:rPr lang="en-US" sz="2899">
                <a:solidFill>
                  <a:srgbClr val="F8F6F7"/>
                </a:solidFill>
                <a:latin typeface="Aileron"/>
                <a:ea typeface="Aileron"/>
                <a:cs typeface="Aileron"/>
                <a:sym typeface="Aileron"/>
              </a:rPr>
              <a:t>at</a:t>
            </a:r>
            <a:r>
              <a:rPr lang="en-US" sz="2899" u="none" strike="noStrike">
                <a:solidFill>
                  <a:srgbClr val="F8F6F7"/>
                </a:solidFill>
                <a:latin typeface="Aileron"/>
                <a:ea typeface="Aileron"/>
                <a:cs typeface="Aileron"/>
                <a:sym typeface="Aileron"/>
              </a:rPr>
              <a:t>ur</a:t>
            </a:r>
            <a:r>
              <a:rPr lang="en-US" sz="2899">
                <a:solidFill>
                  <a:srgbClr val="F8F6F7"/>
                </a:solidFill>
                <a:latin typeface="Aileron"/>
                <a:ea typeface="Aileron"/>
                <a:cs typeface="Aileron"/>
                <a:sym typeface="Aileron"/>
              </a:rPr>
              <a:t>e</a:t>
            </a:r>
          </a:p>
          <a:p>
            <a:pPr marL="626107" lvl="1" indent="-313054" algn="l">
              <a:lnSpc>
                <a:spcPts val="4059"/>
              </a:lnSpc>
              <a:buFont typeface="Arial"/>
              <a:buChar char="•"/>
            </a:pPr>
            <a:r>
              <a:rPr lang="en-US" sz="2899" u="none" strike="noStrike">
                <a:solidFill>
                  <a:srgbClr val="F8F6F7"/>
                </a:solidFill>
                <a:latin typeface="Aileron"/>
                <a:ea typeface="Aileron"/>
                <a:cs typeface="Aileron"/>
                <a:sym typeface="Aileron"/>
              </a:rPr>
              <a:t>Project</a:t>
            </a:r>
            <a:r>
              <a:rPr lang="en-US" sz="2899">
                <a:solidFill>
                  <a:srgbClr val="F8F6F7"/>
                </a:solidFill>
                <a:latin typeface="Aileron"/>
                <a:ea typeface="Aileron"/>
                <a:cs typeface="Aileron"/>
                <a:sym typeface="Aileron"/>
              </a:rPr>
              <a:t> and </a:t>
            </a:r>
            <a:r>
              <a:rPr lang="en-US" sz="2899" u="none" strike="noStrike">
                <a:solidFill>
                  <a:srgbClr val="F8F6F7"/>
                </a:solidFill>
                <a:latin typeface="Aileron"/>
                <a:ea typeface="Aileron"/>
                <a:cs typeface="Aileron"/>
                <a:sym typeface="Aileron"/>
              </a:rPr>
              <a:t>mid</a:t>
            </a:r>
            <a:r>
              <a:rPr lang="en-US" sz="2899">
                <a:solidFill>
                  <a:srgbClr val="F8F6F7"/>
                </a:solidFill>
                <a:latin typeface="Aileron"/>
                <a:ea typeface="Aileron"/>
                <a:cs typeface="Aileron"/>
                <a:sym typeface="Aileron"/>
              </a:rPr>
              <a:t>t</a:t>
            </a:r>
            <a:r>
              <a:rPr lang="en-US" sz="2899" u="none" strike="noStrike">
                <a:solidFill>
                  <a:srgbClr val="F8F6F7"/>
                </a:solidFill>
                <a:latin typeface="Aileron"/>
                <a:ea typeface="Aileron"/>
                <a:cs typeface="Aileron"/>
                <a:sym typeface="Aileron"/>
              </a:rPr>
              <a:t>erm sc</a:t>
            </a:r>
            <a:r>
              <a:rPr lang="en-US" sz="2899">
                <a:solidFill>
                  <a:srgbClr val="F8F6F7"/>
                </a:solidFill>
                <a:latin typeface="Aileron"/>
                <a:ea typeface="Aileron"/>
                <a:cs typeface="Aileron"/>
                <a:sym typeface="Aileron"/>
              </a:rPr>
              <a:t>ore</a:t>
            </a:r>
            <a:r>
              <a:rPr lang="en-US" sz="2899" u="none" strike="noStrike">
                <a:solidFill>
                  <a:srgbClr val="F8F6F7"/>
                </a:solidFill>
                <a:latin typeface="Aileron"/>
                <a:ea typeface="Aileron"/>
                <a:cs typeface="Aileron"/>
                <a:sym typeface="Aileron"/>
              </a:rPr>
              <a:t>s also</a:t>
            </a:r>
            <a:r>
              <a:rPr lang="en-US" sz="2899">
                <a:solidFill>
                  <a:srgbClr val="F8F6F7"/>
                </a:solidFill>
                <a:latin typeface="Aileron"/>
                <a:ea typeface="Aileron"/>
                <a:cs typeface="Aileron"/>
                <a:sym typeface="Aileron"/>
              </a:rPr>
              <a:t> </a:t>
            </a:r>
            <a:r>
              <a:rPr lang="en-US" sz="2899" u="none" strike="noStrike">
                <a:solidFill>
                  <a:srgbClr val="F8F6F7"/>
                </a:solidFill>
                <a:latin typeface="Aileron"/>
                <a:ea typeface="Aileron"/>
                <a:cs typeface="Aileron"/>
                <a:sym typeface="Aileron"/>
              </a:rPr>
              <a:t>contr</a:t>
            </a:r>
            <a:r>
              <a:rPr lang="en-US" sz="2899">
                <a:solidFill>
                  <a:srgbClr val="F8F6F7"/>
                </a:solidFill>
                <a:latin typeface="Aileron"/>
                <a:ea typeface="Aileron"/>
                <a:cs typeface="Aileron"/>
                <a:sym typeface="Aileron"/>
              </a:rPr>
              <a:t>i</a:t>
            </a:r>
            <a:r>
              <a:rPr lang="en-US" sz="2899" u="none" strike="noStrike">
                <a:solidFill>
                  <a:srgbClr val="F8F6F7"/>
                </a:solidFill>
                <a:latin typeface="Aileron"/>
                <a:ea typeface="Aileron"/>
                <a:cs typeface="Aileron"/>
                <a:sym typeface="Aileron"/>
              </a:rPr>
              <a:t>bu</a:t>
            </a:r>
            <a:r>
              <a:rPr lang="en-US" sz="2899">
                <a:solidFill>
                  <a:srgbClr val="F8F6F7"/>
                </a:solidFill>
                <a:latin typeface="Aileron"/>
                <a:ea typeface="Aileron"/>
                <a:cs typeface="Aileron"/>
                <a:sym typeface="Aileron"/>
              </a:rPr>
              <a:t>te </a:t>
            </a:r>
            <a:r>
              <a:rPr lang="en-US" sz="2899" u="none" strike="noStrike">
                <a:solidFill>
                  <a:srgbClr val="F8F6F7"/>
                </a:solidFill>
                <a:latin typeface="Aileron"/>
                <a:ea typeface="Aileron"/>
                <a:cs typeface="Aileron"/>
                <a:sym typeface="Aileron"/>
              </a:rPr>
              <a:t>signific</a:t>
            </a:r>
            <a:r>
              <a:rPr lang="en-US" sz="2899">
                <a:solidFill>
                  <a:srgbClr val="F8F6F7"/>
                </a:solidFill>
                <a:latin typeface="Aileron"/>
                <a:ea typeface="Aileron"/>
                <a:cs typeface="Aileron"/>
                <a:sym typeface="Aileron"/>
              </a:rPr>
              <a:t>a</a:t>
            </a:r>
            <a:r>
              <a:rPr lang="en-US" sz="2899" u="none" strike="noStrike">
                <a:solidFill>
                  <a:srgbClr val="F8F6F7"/>
                </a:solidFill>
                <a:latin typeface="Aileron"/>
                <a:ea typeface="Aileron"/>
                <a:cs typeface="Aileron"/>
                <a:sym typeface="Aileron"/>
              </a:rPr>
              <a:t>n</a:t>
            </a:r>
            <a:r>
              <a:rPr lang="en-US" sz="2899">
                <a:solidFill>
                  <a:srgbClr val="F8F6F7"/>
                </a:solidFill>
                <a:latin typeface="Aileron"/>
                <a:ea typeface="Aileron"/>
                <a:cs typeface="Aileron"/>
                <a:sym typeface="Aileron"/>
              </a:rPr>
              <a:t>t</a:t>
            </a:r>
            <a:r>
              <a:rPr lang="en-US" sz="2899" u="none" strike="noStrike">
                <a:solidFill>
                  <a:srgbClr val="F8F6F7"/>
                </a:solidFill>
                <a:latin typeface="Aileron"/>
                <a:ea typeface="Aileron"/>
                <a:cs typeface="Aileron"/>
                <a:sym typeface="Aileron"/>
              </a:rPr>
              <a:t>ly</a:t>
            </a:r>
          </a:p>
          <a:p>
            <a:pPr marL="626107" lvl="1" indent="-313054" algn="l">
              <a:lnSpc>
                <a:spcPts val="4059"/>
              </a:lnSpc>
              <a:buFont typeface="Arial"/>
              <a:buChar char="•"/>
            </a:pPr>
            <a:r>
              <a:rPr lang="en-US" sz="2899" u="none" strike="noStrike">
                <a:solidFill>
                  <a:srgbClr val="F8F6F7"/>
                </a:solidFill>
                <a:latin typeface="Aileron"/>
                <a:ea typeface="Aileron"/>
                <a:cs typeface="Aileron"/>
                <a:sym typeface="Aileron"/>
              </a:rPr>
              <a:t>Quiz </a:t>
            </a:r>
            <a:r>
              <a:rPr lang="en-US" sz="2899">
                <a:solidFill>
                  <a:srgbClr val="F8F6F7"/>
                </a:solidFill>
                <a:latin typeface="Aileron"/>
                <a:ea typeface="Aileron"/>
                <a:cs typeface="Aileron"/>
                <a:sym typeface="Aileron"/>
              </a:rPr>
              <a:t>p</a:t>
            </a:r>
            <a:r>
              <a:rPr lang="en-US" sz="2899" u="none" strike="noStrike">
                <a:solidFill>
                  <a:srgbClr val="F8F6F7"/>
                </a:solidFill>
                <a:latin typeface="Aileron"/>
                <a:ea typeface="Aileron"/>
                <a:cs typeface="Aileron"/>
                <a:sym typeface="Aileron"/>
              </a:rPr>
              <a:t>e</a:t>
            </a:r>
            <a:r>
              <a:rPr lang="en-US" sz="2899">
                <a:solidFill>
                  <a:srgbClr val="F8F6F7"/>
                </a:solidFill>
                <a:latin typeface="Aileron"/>
                <a:ea typeface="Aileron"/>
                <a:cs typeface="Aileron"/>
                <a:sym typeface="Aileron"/>
              </a:rPr>
              <a:t>r</a:t>
            </a:r>
            <a:r>
              <a:rPr lang="en-US" sz="2899" u="none" strike="noStrike">
                <a:solidFill>
                  <a:srgbClr val="F8F6F7"/>
                </a:solidFill>
                <a:latin typeface="Aileron"/>
                <a:ea typeface="Aileron"/>
                <a:cs typeface="Aileron"/>
                <a:sym typeface="Aileron"/>
              </a:rPr>
              <a:t>f</a:t>
            </a:r>
            <a:r>
              <a:rPr lang="en-US" sz="2899">
                <a:solidFill>
                  <a:srgbClr val="F8F6F7"/>
                </a:solidFill>
                <a:latin typeface="Aileron"/>
                <a:ea typeface="Aileron"/>
                <a:cs typeface="Aileron"/>
                <a:sym typeface="Aileron"/>
              </a:rPr>
              <a:t>o</a:t>
            </a:r>
            <a:r>
              <a:rPr lang="en-US" sz="2899" u="none" strike="noStrike">
                <a:solidFill>
                  <a:srgbClr val="F8F6F7"/>
                </a:solidFill>
                <a:latin typeface="Aileron"/>
                <a:ea typeface="Aileron"/>
                <a:cs typeface="Aileron"/>
                <a:sym typeface="Aileron"/>
              </a:rPr>
              <a:t>rman</a:t>
            </a:r>
            <a:r>
              <a:rPr lang="en-US" sz="2899">
                <a:solidFill>
                  <a:srgbClr val="F8F6F7"/>
                </a:solidFill>
                <a:latin typeface="Aileron"/>
                <a:ea typeface="Aileron"/>
                <a:cs typeface="Aileron"/>
                <a:sym typeface="Aileron"/>
              </a:rPr>
              <a:t>ce</a:t>
            </a:r>
            <a:r>
              <a:rPr lang="en-US" sz="2899" u="none" strike="noStrike">
                <a:solidFill>
                  <a:srgbClr val="F8F6F7"/>
                </a:solidFill>
                <a:latin typeface="Aileron"/>
                <a:ea typeface="Aileron"/>
                <a:cs typeface="Aileron"/>
                <a:sym typeface="Aileron"/>
              </a:rPr>
              <a:t> </a:t>
            </a:r>
            <a:r>
              <a:rPr lang="en-US" sz="2899">
                <a:solidFill>
                  <a:srgbClr val="F8F6F7"/>
                </a:solidFill>
                <a:latin typeface="Aileron"/>
                <a:ea typeface="Aileron"/>
                <a:cs typeface="Aileron"/>
                <a:sym typeface="Aileron"/>
              </a:rPr>
              <a:t>s</a:t>
            </a:r>
            <a:r>
              <a:rPr lang="en-US" sz="2899" u="none" strike="noStrike">
                <a:solidFill>
                  <a:srgbClr val="F8F6F7"/>
                </a:solidFill>
                <a:latin typeface="Aileron"/>
                <a:ea typeface="Aileron"/>
                <a:cs typeface="Aileron"/>
                <a:sym typeface="Aileron"/>
              </a:rPr>
              <a:t>how</a:t>
            </a:r>
            <a:r>
              <a:rPr lang="en-US" sz="2899">
                <a:solidFill>
                  <a:srgbClr val="F8F6F7"/>
                </a:solidFill>
                <a:latin typeface="Aileron"/>
                <a:ea typeface="Aileron"/>
                <a:cs typeface="Aileron"/>
                <a:sym typeface="Aileron"/>
              </a:rPr>
              <a:t>s mode</a:t>
            </a:r>
            <a:r>
              <a:rPr lang="en-US" sz="2899" u="none" strike="noStrike">
                <a:solidFill>
                  <a:srgbClr val="F8F6F7"/>
                </a:solidFill>
                <a:latin typeface="Aileron"/>
                <a:ea typeface="Aileron"/>
                <a:cs typeface="Aileron"/>
                <a:sym typeface="Aileron"/>
              </a:rPr>
              <a:t>r</a:t>
            </a:r>
            <a:r>
              <a:rPr lang="en-US" sz="2899">
                <a:solidFill>
                  <a:srgbClr val="F8F6F7"/>
                </a:solidFill>
                <a:latin typeface="Aileron"/>
                <a:ea typeface="Aileron"/>
                <a:cs typeface="Aileron"/>
                <a:sym typeface="Aileron"/>
              </a:rPr>
              <a:t>a</a:t>
            </a:r>
            <a:r>
              <a:rPr lang="en-US" sz="2899" u="none" strike="noStrike">
                <a:solidFill>
                  <a:srgbClr val="F8F6F7"/>
                </a:solidFill>
                <a:latin typeface="Aileron"/>
                <a:ea typeface="Aileron"/>
                <a:cs typeface="Aileron"/>
                <a:sym typeface="Aileron"/>
              </a:rPr>
              <a:t>te</a:t>
            </a:r>
            <a:r>
              <a:rPr lang="en-US" sz="2899">
                <a:solidFill>
                  <a:srgbClr val="F8F6F7"/>
                </a:solidFill>
                <a:latin typeface="Aileron"/>
                <a:ea typeface="Aileron"/>
                <a:cs typeface="Aileron"/>
                <a:sym typeface="Aileron"/>
              </a:rPr>
              <a:t> </a:t>
            </a:r>
            <a:r>
              <a:rPr lang="en-US" sz="2899" u="none" strike="noStrike">
                <a:solidFill>
                  <a:srgbClr val="F8F6F7"/>
                </a:solidFill>
                <a:latin typeface="Aileron"/>
                <a:ea typeface="Aileron"/>
                <a:cs typeface="Aileron"/>
                <a:sym typeface="Aileron"/>
              </a:rPr>
              <a:t>imp</a:t>
            </a:r>
            <a:r>
              <a:rPr lang="en-US" sz="2899">
                <a:solidFill>
                  <a:srgbClr val="F8F6F7"/>
                </a:solidFill>
                <a:latin typeface="Aileron"/>
                <a:ea typeface="Aileron"/>
                <a:cs typeface="Aileron"/>
                <a:sym typeface="Aileron"/>
              </a:rPr>
              <a:t>a</a:t>
            </a:r>
            <a:r>
              <a:rPr lang="en-US" sz="2899" u="none" strike="noStrike">
                <a:solidFill>
                  <a:srgbClr val="F8F6F7"/>
                </a:solidFill>
                <a:latin typeface="Aileron"/>
                <a:ea typeface="Aileron"/>
                <a:cs typeface="Aileron"/>
                <a:sym typeface="Aileron"/>
              </a:rPr>
              <a:t>c</a:t>
            </a:r>
            <a:r>
              <a:rPr lang="en-US" sz="2899">
                <a:solidFill>
                  <a:srgbClr val="F8F6F7"/>
                </a:solidFill>
                <a:latin typeface="Aileron"/>
                <a:ea typeface="Aileron"/>
                <a:cs typeface="Aileron"/>
                <a:sym typeface="Aileron"/>
              </a:rPr>
              <a:t>t</a:t>
            </a:r>
          </a:p>
          <a:p>
            <a:pPr marL="626107" lvl="1" indent="-313054" algn="l">
              <a:lnSpc>
                <a:spcPts val="4059"/>
              </a:lnSpc>
              <a:buFont typeface="Arial"/>
              <a:buChar char="•"/>
            </a:pPr>
            <a:r>
              <a:rPr lang="en-US" sz="2899" u="none" strike="noStrike">
                <a:solidFill>
                  <a:srgbClr val="F8F6F7"/>
                </a:solidFill>
                <a:latin typeface="Aileron"/>
                <a:ea typeface="Aileron"/>
                <a:cs typeface="Aileron"/>
                <a:sym typeface="Aileron"/>
              </a:rPr>
              <a:t>P</a:t>
            </a:r>
            <a:r>
              <a:rPr lang="en-US" sz="2899">
                <a:solidFill>
                  <a:srgbClr val="F8F6F7"/>
                </a:solidFill>
                <a:latin typeface="Aileron"/>
                <a:ea typeface="Aileron"/>
                <a:cs typeface="Aileron"/>
                <a:sym typeface="Aileron"/>
              </a:rPr>
              <a:t>ar</a:t>
            </a:r>
            <a:r>
              <a:rPr lang="en-US" sz="2899" u="none" strike="noStrike">
                <a:solidFill>
                  <a:srgbClr val="F8F6F7"/>
                </a:solidFill>
                <a:latin typeface="Aileron"/>
                <a:ea typeface="Aileron"/>
                <a:cs typeface="Aileron"/>
                <a:sym typeface="Aileron"/>
              </a:rPr>
              <a:t>t</a:t>
            </a:r>
            <a:r>
              <a:rPr lang="en-US" sz="2899">
                <a:solidFill>
                  <a:srgbClr val="F8F6F7"/>
                </a:solidFill>
                <a:latin typeface="Aileron"/>
                <a:ea typeface="Aileron"/>
                <a:cs typeface="Aileron"/>
                <a:sym typeface="Aileron"/>
              </a:rPr>
              <a:t>i</a:t>
            </a:r>
            <a:r>
              <a:rPr lang="en-US" sz="2899" u="none" strike="noStrike">
                <a:solidFill>
                  <a:srgbClr val="F8F6F7"/>
                </a:solidFill>
                <a:latin typeface="Aileron"/>
                <a:ea typeface="Aileron"/>
                <a:cs typeface="Aileron"/>
                <a:sym typeface="Aileron"/>
              </a:rPr>
              <a:t>cip</a:t>
            </a:r>
            <a:r>
              <a:rPr lang="en-US" sz="2899">
                <a:solidFill>
                  <a:srgbClr val="F8F6F7"/>
                </a:solidFill>
                <a:latin typeface="Aileron"/>
                <a:ea typeface="Aileron"/>
                <a:cs typeface="Aileron"/>
                <a:sym typeface="Aileron"/>
              </a:rPr>
              <a:t>ati</a:t>
            </a:r>
            <a:r>
              <a:rPr lang="en-US" sz="2899" u="none" strike="noStrike">
                <a:solidFill>
                  <a:srgbClr val="F8F6F7"/>
                </a:solidFill>
                <a:latin typeface="Aileron"/>
                <a:ea typeface="Aileron"/>
                <a:cs typeface="Aileron"/>
                <a:sym typeface="Aileron"/>
              </a:rPr>
              <a:t>o</a:t>
            </a:r>
            <a:r>
              <a:rPr lang="en-US" sz="2899">
                <a:solidFill>
                  <a:srgbClr val="F8F6F7"/>
                </a:solidFill>
                <a:latin typeface="Aileron"/>
                <a:ea typeface="Aileron"/>
                <a:cs typeface="Aileron"/>
                <a:sym typeface="Aileron"/>
              </a:rPr>
              <a:t>n </a:t>
            </a:r>
            <a:r>
              <a:rPr lang="en-US" sz="2899" u="none" strike="noStrike">
                <a:solidFill>
                  <a:srgbClr val="F8F6F7"/>
                </a:solidFill>
                <a:latin typeface="Aileron"/>
                <a:ea typeface="Aileron"/>
                <a:cs typeface="Aileron"/>
                <a:sym typeface="Aileron"/>
              </a:rPr>
              <a:t>h</a:t>
            </a:r>
            <a:r>
              <a:rPr lang="en-US" sz="2899">
                <a:solidFill>
                  <a:srgbClr val="F8F6F7"/>
                </a:solidFill>
                <a:latin typeface="Aileron"/>
                <a:ea typeface="Aileron"/>
                <a:cs typeface="Aileron"/>
                <a:sym typeface="Aileron"/>
              </a:rPr>
              <a:t>as</a:t>
            </a:r>
            <a:r>
              <a:rPr lang="en-US" sz="2899" u="none" strike="noStrike">
                <a:solidFill>
                  <a:srgbClr val="F8F6F7"/>
                </a:solidFill>
                <a:latin typeface="Aileron"/>
                <a:ea typeface="Aileron"/>
                <a:cs typeface="Aileron"/>
                <a:sym typeface="Aileron"/>
              </a:rPr>
              <a:t> re</a:t>
            </a:r>
            <a:r>
              <a:rPr lang="en-US" sz="2899">
                <a:solidFill>
                  <a:srgbClr val="F8F6F7"/>
                </a:solidFill>
                <a:latin typeface="Aileron"/>
                <a:ea typeface="Aileron"/>
                <a:cs typeface="Aileron"/>
                <a:sym typeface="Aileron"/>
              </a:rPr>
              <a:t>l</a:t>
            </a:r>
            <a:r>
              <a:rPr lang="en-US" sz="2899" u="none" strike="noStrike">
                <a:solidFill>
                  <a:srgbClr val="F8F6F7"/>
                </a:solidFill>
                <a:latin typeface="Aileron"/>
                <a:ea typeface="Aileron"/>
                <a:cs typeface="Aileron"/>
                <a:sym typeface="Aileron"/>
              </a:rPr>
              <a:t>at</a:t>
            </a:r>
            <a:r>
              <a:rPr lang="en-US" sz="2899">
                <a:solidFill>
                  <a:srgbClr val="F8F6F7"/>
                </a:solidFill>
                <a:latin typeface="Aileron"/>
                <a:ea typeface="Aileron"/>
                <a:cs typeface="Aileron"/>
                <a:sym typeface="Aileron"/>
              </a:rPr>
              <a:t>i</a:t>
            </a:r>
            <a:r>
              <a:rPr lang="en-US" sz="2899" u="none" strike="noStrike">
                <a:solidFill>
                  <a:srgbClr val="F8F6F7"/>
                </a:solidFill>
                <a:latin typeface="Aileron"/>
                <a:ea typeface="Aileron"/>
                <a:cs typeface="Aileron"/>
                <a:sym typeface="Aileron"/>
              </a:rPr>
              <a:t>v</a:t>
            </a:r>
            <a:r>
              <a:rPr lang="en-US" sz="2899">
                <a:solidFill>
                  <a:srgbClr val="F8F6F7"/>
                </a:solidFill>
                <a:latin typeface="Aileron"/>
                <a:ea typeface="Aileron"/>
                <a:cs typeface="Aileron"/>
                <a:sym typeface="Aileron"/>
              </a:rPr>
              <a:t>e</a:t>
            </a:r>
            <a:r>
              <a:rPr lang="en-US" sz="2899" u="none" strike="noStrike">
                <a:solidFill>
                  <a:srgbClr val="F8F6F7"/>
                </a:solidFill>
                <a:latin typeface="Aileron"/>
                <a:ea typeface="Aileron"/>
                <a:cs typeface="Aileron"/>
                <a:sym typeface="Aileron"/>
              </a:rPr>
              <a:t>ly</a:t>
            </a:r>
            <a:r>
              <a:rPr lang="en-US" sz="2899">
                <a:solidFill>
                  <a:srgbClr val="F8F6F7"/>
                </a:solidFill>
                <a:latin typeface="Aileron"/>
                <a:ea typeface="Aileron"/>
                <a:cs typeface="Aileron"/>
                <a:sym typeface="Aileron"/>
              </a:rPr>
              <a:t> </a:t>
            </a:r>
            <a:r>
              <a:rPr lang="en-US" sz="2899" u="none" strike="noStrike">
                <a:solidFill>
                  <a:srgbClr val="F8F6F7"/>
                </a:solidFill>
                <a:latin typeface="Aileron"/>
                <a:ea typeface="Aileron"/>
                <a:cs typeface="Aileron"/>
                <a:sym typeface="Aileron"/>
              </a:rPr>
              <a:t>lower in</a:t>
            </a:r>
            <a:r>
              <a:rPr lang="en-US" sz="2899">
                <a:solidFill>
                  <a:srgbClr val="F8F6F7"/>
                </a:solidFill>
                <a:latin typeface="Aileron"/>
                <a:ea typeface="Aileron"/>
                <a:cs typeface="Aileron"/>
                <a:sym typeface="Aileron"/>
              </a:rPr>
              <a:t>f</a:t>
            </a:r>
            <a:r>
              <a:rPr lang="en-US" sz="2899" u="none" strike="noStrike">
                <a:solidFill>
                  <a:srgbClr val="F8F6F7"/>
                </a:solidFill>
                <a:latin typeface="Aileron"/>
                <a:ea typeface="Aileron"/>
                <a:cs typeface="Aileron"/>
                <a:sym typeface="Aileron"/>
              </a:rPr>
              <a:t>lu</a:t>
            </a:r>
            <a:r>
              <a:rPr lang="en-US" sz="2899">
                <a:solidFill>
                  <a:srgbClr val="F8F6F7"/>
                </a:solidFill>
                <a:latin typeface="Aileron"/>
                <a:ea typeface="Aileron"/>
                <a:cs typeface="Aileron"/>
                <a:sym typeface="Aileron"/>
              </a:rPr>
              <a:t>e</a:t>
            </a:r>
            <a:r>
              <a:rPr lang="en-US" sz="2899" u="none" strike="noStrike">
                <a:solidFill>
                  <a:srgbClr val="F8F6F7"/>
                </a:solidFill>
                <a:latin typeface="Aileron"/>
                <a:ea typeface="Aileron"/>
                <a:cs typeface="Aileron"/>
                <a:sym typeface="Aileron"/>
              </a:rPr>
              <a:t>nce</a:t>
            </a:r>
          </a:p>
          <a:p>
            <a:pPr algn="l">
              <a:lnSpc>
                <a:spcPts val="4059"/>
              </a:lnSpc>
            </a:pPr>
            <a:r>
              <a:rPr lang="en-US" sz="2899" b="1" u="none" strike="noStrike">
                <a:solidFill>
                  <a:srgbClr val="F8F6F7"/>
                </a:solidFill>
                <a:latin typeface="Aileron Bold"/>
                <a:ea typeface="Aileron Bold"/>
                <a:cs typeface="Aileron Bold"/>
                <a:sym typeface="Aileron Bold"/>
              </a:rPr>
              <a:t>In</a:t>
            </a:r>
            <a:r>
              <a:rPr lang="en-US" sz="2899" b="1">
                <a:solidFill>
                  <a:srgbClr val="F8F6F7"/>
                </a:solidFill>
                <a:latin typeface="Aileron Bold"/>
                <a:ea typeface="Aileron Bold"/>
                <a:cs typeface="Aileron Bold"/>
                <a:sym typeface="Aileron Bold"/>
              </a:rPr>
              <a:t>t</a:t>
            </a:r>
            <a:r>
              <a:rPr lang="en-US" sz="2899" b="1" u="none" strike="noStrike">
                <a:solidFill>
                  <a:srgbClr val="F8F6F7"/>
                </a:solidFill>
                <a:latin typeface="Aileron Bold"/>
                <a:ea typeface="Aileron Bold"/>
                <a:cs typeface="Aileron Bold"/>
                <a:sym typeface="Aileron Bold"/>
              </a:rPr>
              <a:t>erp</a:t>
            </a:r>
            <a:r>
              <a:rPr lang="en-US" sz="2899" b="1">
                <a:solidFill>
                  <a:srgbClr val="F8F6F7"/>
                </a:solidFill>
                <a:latin typeface="Aileron Bold"/>
                <a:ea typeface="Aileron Bold"/>
                <a:cs typeface="Aileron Bold"/>
                <a:sym typeface="Aileron Bold"/>
              </a:rPr>
              <a:t>re</a:t>
            </a:r>
            <a:r>
              <a:rPr lang="en-US" sz="2899" b="1" u="none" strike="noStrike">
                <a:solidFill>
                  <a:srgbClr val="F8F6F7"/>
                </a:solidFill>
                <a:latin typeface="Aileron Bold"/>
                <a:ea typeface="Aileron Bold"/>
                <a:cs typeface="Aileron Bold"/>
                <a:sym typeface="Aileron Bold"/>
              </a:rPr>
              <a:t>t</a:t>
            </a:r>
            <a:r>
              <a:rPr lang="en-US" sz="2899" b="1">
                <a:solidFill>
                  <a:srgbClr val="F8F6F7"/>
                </a:solidFill>
                <a:latin typeface="Aileron Bold"/>
                <a:ea typeface="Aileron Bold"/>
                <a:cs typeface="Aileron Bold"/>
                <a:sym typeface="Aileron Bold"/>
              </a:rPr>
              <a:t>a</a:t>
            </a:r>
            <a:r>
              <a:rPr lang="en-US" sz="2899" b="1" u="none" strike="noStrike">
                <a:solidFill>
                  <a:srgbClr val="F8F6F7"/>
                </a:solidFill>
                <a:latin typeface="Aileron Bold"/>
                <a:ea typeface="Aileron Bold"/>
                <a:cs typeface="Aileron Bold"/>
                <a:sym typeface="Aileron Bold"/>
              </a:rPr>
              <a:t>t</a:t>
            </a:r>
            <a:r>
              <a:rPr lang="en-US" sz="2899" b="1">
                <a:solidFill>
                  <a:srgbClr val="F8F6F7"/>
                </a:solidFill>
                <a:latin typeface="Aileron Bold"/>
                <a:ea typeface="Aileron Bold"/>
                <a:cs typeface="Aileron Bold"/>
                <a:sym typeface="Aileron Bold"/>
              </a:rPr>
              <a:t>i</a:t>
            </a:r>
            <a:r>
              <a:rPr lang="en-US" sz="2899" b="1" u="none" strike="noStrike">
                <a:solidFill>
                  <a:srgbClr val="F8F6F7"/>
                </a:solidFill>
                <a:latin typeface="Aileron Bold"/>
                <a:ea typeface="Aileron Bold"/>
                <a:cs typeface="Aileron Bold"/>
                <a:sym typeface="Aileron Bold"/>
              </a:rPr>
              <a:t>o</a:t>
            </a:r>
            <a:r>
              <a:rPr lang="en-US" sz="2899" b="1">
                <a:solidFill>
                  <a:srgbClr val="F8F6F7"/>
                </a:solidFill>
                <a:latin typeface="Aileron Bold"/>
                <a:ea typeface="Aileron Bold"/>
                <a:cs typeface="Aileron Bold"/>
                <a:sym typeface="Aileron Bold"/>
              </a:rPr>
              <a:t>n</a:t>
            </a:r>
          </a:p>
          <a:p>
            <a:pPr marL="626107" lvl="1" indent="-313054" algn="l">
              <a:lnSpc>
                <a:spcPts val="4059"/>
              </a:lnSpc>
              <a:buFont typeface="Arial"/>
              <a:buChar char="•"/>
            </a:pPr>
            <a:r>
              <a:rPr lang="en-US" sz="2899" u="none" strike="noStrike">
                <a:solidFill>
                  <a:srgbClr val="F8F6F7"/>
                </a:solidFill>
                <a:latin typeface="Aileron"/>
                <a:ea typeface="Aileron"/>
                <a:cs typeface="Aileron"/>
                <a:sym typeface="Aileron"/>
              </a:rPr>
              <a:t>Continuous a</a:t>
            </a:r>
            <a:r>
              <a:rPr lang="en-US" sz="2899">
                <a:solidFill>
                  <a:srgbClr val="F8F6F7"/>
                </a:solidFill>
                <a:latin typeface="Aileron"/>
                <a:ea typeface="Aileron"/>
                <a:cs typeface="Aileron"/>
                <a:sym typeface="Aileron"/>
              </a:rPr>
              <a:t>sses</a:t>
            </a:r>
            <a:r>
              <a:rPr lang="en-US" sz="2899" u="none" strike="noStrike">
                <a:solidFill>
                  <a:srgbClr val="F8F6F7"/>
                </a:solidFill>
                <a:latin typeface="Aileron"/>
                <a:ea typeface="Aileron"/>
                <a:cs typeface="Aileron"/>
                <a:sym typeface="Aileron"/>
              </a:rPr>
              <a:t>sment</a:t>
            </a:r>
            <a:r>
              <a:rPr lang="en-US" sz="2899">
                <a:solidFill>
                  <a:srgbClr val="F8F6F7"/>
                </a:solidFill>
                <a:latin typeface="Aileron"/>
                <a:ea typeface="Aileron"/>
                <a:cs typeface="Aileron"/>
                <a:sym typeface="Aileron"/>
              </a:rPr>
              <a:t> </a:t>
            </a:r>
            <a:r>
              <a:rPr lang="en-US" sz="2899" u="none" strike="noStrike">
                <a:solidFill>
                  <a:srgbClr val="F8F6F7"/>
                </a:solidFill>
                <a:latin typeface="Aileron"/>
                <a:ea typeface="Aileron"/>
                <a:cs typeface="Aileron"/>
                <a:sym typeface="Aileron"/>
              </a:rPr>
              <a:t>p</a:t>
            </a:r>
            <a:r>
              <a:rPr lang="en-US" sz="2899">
                <a:solidFill>
                  <a:srgbClr val="F8F6F7"/>
                </a:solidFill>
                <a:latin typeface="Aileron"/>
                <a:ea typeface="Aileron"/>
                <a:cs typeface="Aileron"/>
                <a:sym typeface="Aileron"/>
              </a:rPr>
              <a:t>la</a:t>
            </a:r>
            <a:r>
              <a:rPr lang="en-US" sz="2899" u="none" strike="noStrike">
                <a:solidFill>
                  <a:srgbClr val="F8F6F7"/>
                </a:solidFill>
                <a:latin typeface="Aileron"/>
                <a:ea typeface="Aileron"/>
                <a:cs typeface="Aileron"/>
                <a:sym typeface="Aileron"/>
              </a:rPr>
              <a:t>y</a:t>
            </a:r>
            <a:r>
              <a:rPr lang="en-US" sz="2899">
                <a:solidFill>
                  <a:srgbClr val="F8F6F7"/>
                </a:solidFill>
                <a:latin typeface="Aileron"/>
                <a:ea typeface="Aileron"/>
                <a:cs typeface="Aileron"/>
                <a:sym typeface="Aileron"/>
              </a:rPr>
              <a:t>s</a:t>
            </a:r>
            <a:r>
              <a:rPr lang="en-US" sz="2899" u="none" strike="noStrike">
                <a:solidFill>
                  <a:srgbClr val="F8F6F7"/>
                </a:solidFill>
                <a:latin typeface="Aileron"/>
                <a:ea typeface="Aileron"/>
                <a:cs typeface="Aileron"/>
                <a:sym typeface="Aileron"/>
              </a:rPr>
              <a:t> a</a:t>
            </a:r>
            <a:r>
              <a:rPr lang="en-US" sz="2899">
                <a:solidFill>
                  <a:srgbClr val="F8F6F7"/>
                </a:solidFill>
                <a:latin typeface="Aileron"/>
                <a:ea typeface="Aileron"/>
                <a:cs typeface="Aileron"/>
                <a:sym typeface="Aileron"/>
              </a:rPr>
              <a:t> ma</a:t>
            </a:r>
            <a:r>
              <a:rPr lang="en-US" sz="2899" u="none" strike="noStrike">
                <a:solidFill>
                  <a:srgbClr val="F8F6F7"/>
                </a:solidFill>
                <a:latin typeface="Aileron"/>
                <a:ea typeface="Aileron"/>
                <a:cs typeface="Aileron"/>
                <a:sym typeface="Aileron"/>
              </a:rPr>
              <a:t>jor ro</a:t>
            </a:r>
            <a:r>
              <a:rPr lang="en-US" sz="2899">
                <a:solidFill>
                  <a:srgbClr val="F8F6F7"/>
                </a:solidFill>
                <a:latin typeface="Aileron"/>
                <a:ea typeface="Aileron"/>
                <a:cs typeface="Aileron"/>
                <a:sym typeface="Aileron"/>
              </a:rPr>
              <a:t>le in </a:t>
            </a:r>
            <a:r>
              <a:rPr lang="en-US" sz="2899" u="none" strike="noStrike">
                <a:solidFill>
                  <a:srgbClr val="F8F6F7"/>
                </a:solidFill>
                <a:latin typeface="Aileron"/>
                <a:ea typeface="Aileron"/>
                <a:cs typeface="Aileron"/>
                <a:sym typeface="Aileron"/>
              </a:rPr>
              <a:t>predi</a:t>
            </a:r>
            <a:r>
              <a:rPr lang="en-US" sz="2899">
                <a:solidFill>
                  <a:srgbClr val="F8F6F7"/>
                </a:solidFill>
                <a:latin typeface="Aileron"/>
                <a:ea typeface="Aileron"/>
                <a:cs typeface="Aileron"/>
                <a:sym typeface="Aileron"/>
              </a:rPr>
              <a:t>c</a:t>
            </a:r>
            <a:r>
              <a:rPr lang="en-US" sz="2899" u="none" strike="noStrike">
                <a:solidFill>
                  <a:srgbClr val="F8F6F7"/>
                </a:solidFill>
                <a:latin typeface="Aileron"/>
                <a:ea typeface="Aileron"/>
                <a:cs typeface="Aileron"/>
                <a:sym typeface="Aileron"/>
              </a:rPr>
              <a:t>t</a:t>
            </a:r>
            <a:r>
              <a:rPr lang="en-US" sz="2899">
                <a:solidFill>
                  <a:srgbClr val="F8F6F7"/>
                </a:solidFill>
                <a:latin typeface="Aileron"/>
                <a:ea typeface="Aileron"/>
                <a:cs typeface="Aileron"/>
                <a:sym typeface="Aileron"/>
              </a:rPr>
              <a:t>in</a:t>
            </a:r>
            <a:r>
              <a:rPr lang="en-US" sz="2899" u="none" strike="noStrike">
                <a:solidFill>
                  <a:srgbClr val="F8F6F7"/>
                </a:solidFill>
                <a:latin typeface="Aileron"/>
                <a:ea typeface="Aileron"/>
                <a:cs typeface="Aileron"/>
                <a:sym typeface="Aileron"/>
              </a:rPr>
              <a:t>g</a:t>
            </a:r>
            <a:r>
              <a:rPr lang="en-US" sz="2899">
                <a:solidFill>
                  <a:srgbClr val="F8F6F7"/>
                </a:solidFill>
                <a:latin typeface="Aileron"/>
                <a:ea typeface="Aileron"/>
                <a:cs typeface="Aileron"/>
                <a:sym typeface="Aileron"/>
              </a:rPr>
              <a:t> a</a:t>
            </a:r>
            <a:r>
              <a:rPr lang="en-US" sz="2899" u="none" strike="noStrike">
                <a:solidFill>
                  <a:srgbClr val="F8F6F7"/>
                </a:solidFill>
                <a:latin typeface="Aileron"/>
                <a:ea typeface="Aileron"/>
                <a:cs typeface="Aileron"/>
                <a:sym typeface="Aileron"/>
              </a:rPr>
              <a:t>cadem</a:t>
            </a:r>
            <a:r>
              <a:rPr lang="en-US" sz="2899">
                <a:solidFill>
                  <a:srgbClr val="F8F6F7"/>
                </a:solidFill>
                <a:latin typeface="Aileron"/>
                <a:ea typeface="Aileron"/>
                <a:cs typeface="Aileron"/>
                <a:sym typeface="Aileron"/>
              </a:rPr>
              <a:t>i</a:t>
            </a:r>
            <a:r>
              <a:rPr lang="en-US" sz="2899" u="none" strike="noStrike">
                <a:solidFill>
                  <a:srgbClr val="F8F6F7"/>
                </a:solidFill>
                <a:latin typeface="Aileron"/>
                <a:ea typeface="Aileron"/>
                <a:cs typeface="Aileron"/>
                <a:sym typeface="Aileron"/>
              </a:rPr>
              <a:t>c</a:t>
            </a:r>
            <a:r>
              <a:rPr lang="en-US" sz="2899">
                <a:solidFill>
                  <a:srgbClr val="F8F6F7"/>
                </a:solidFill>
                <a:latin typeface="Aileron"/>
                <a:ea typeface="Aileron"/>
                <a:cs typeface="Aileron"/>
                <a:sym typeface="Aileron"/>
              </a:rPr>
              <a:t> </a:t>
            </a:r>
            <a:r>
              <a:rPr lang="en-US" sz="2899" u="none" strike="noStrike">
                <a:solidFill>
                  <a:srgbClr val="F8F6F7"/>
                </a:solidFill>
                <a:latin typeface="Aileron"/>
                <a:ea typeface="Aileron"/>
                <a:cs typeface="Aileron"/>
                <a:sym typeface="Aileron"/>
              </a:rPr>
              <a:t>outcomes</a:t>
            </a:r>
          </a:p>
          <a:p>
            <a:pPr marL="626107" lvl="1" indent="-313054" algn="l">
              <a:lnSpc>
                <a:spcPts val="4059"/>
              </a:lnSpc>
              <a:buFont typeface="Arial"/>
              <a:buChar char="•"/>
            </a:pPr>
            <a:r>
              <a:rPr lang="en-US" sz="2899">
                <a:solidFill>
                  <a:srgbClr val="F8F6F7"/>
                </a:solidFill>
                <a:latin typeface="Aileron"/>
                <a:ea typeface="Aileron"/>
                <a:cs typeface="Aileron"/>
                <a:sym typeface="Aileron"/>
              </a:rPr>
              <a:t>Model b</a:t>
            </a:r>
            <a:r>
              <a:rPr lang="en-US" sz="2899" u="none" strike="noStrike">
                <a:solidFill>
                  <a:srgbClr val="F8F6F7"/>
                </a:solidFill>
                <a:latin typeface="Aileron"/>
                <a:ea typeface="Aileron"/>
                <a:cs typeface="Aileron"/>
                <a:sym typeface="Aileron"/>
              </a:rPr>
              <a:t>eh</a:t>
            </a:r>
            <a:r>
              <a:rPr lang="en-US" sz="2899">
                <a:solidFill>
                  <a:srgbClr val="F8F6F7"/>
                </a:solidFill>
                <a:latin typeface="Aileron"/>
                <a:ea typeface="Aileron"/>
                <a:cs typeface="Aileron"/>
                <a:sym typeface="Aileron"/>
              </a:rPr>
              <a:t>a</a:t>
            </a:r>
            <a:r>
              <a:rPr lang="en-US" sz="2899" u="none" strike="noStrike">
                <a:solidFill>
                  <a:srgbClr val="F8F6F7"/>
                </a:solidFill>
                <a:latin typeface="Aileron"/>
                <a:ea typeface="Aileron"/>
                <a:cs typeface="Aileron"/>
                <a:sym typeface="Aileron"/>
              </a:rPr>
              <a:t>v</a:t>
            </a:r>
            <a:r>
              <a:rPr lang="en-US" sz="2899">
                <a:solidFill>
                  <a:srgbClr val="F8F6F7"/>
                </a:solidFill>
                <a:latin typeface="Aileron"/>
                <a:ea typeface="Aileron"/>
                <a:cs typeface="Aileron"/>
                <a:sym typeface="Aileron"/>
              </a:rPr>
              <a:t>i</a:t>
            </a:r>
            <a:r>
              <a:rPr lang="en-US" sz="2899" u="none" strike="noStrike">
                <a:solidFill>
                  <a:srgbClr val="F8F6F7"/>
                </a:solidFill>
                <a:latin typeface="Aileron"/>
                <a:ea typeface="Aileron"/>
                <a:cs typeface="Aileron"/>
                <a:sym typeface="Aileron"/>
              </a:rPr>
              <a:t>our a</a:t>
            </a:r>
            <a:r>
              <a:rPr lang="en-US" sz="2899">
                <a:solidFill>
                  <a:srgbClr val="F8F6F7"/>
                </a:solidFill>
                <a:latin typeface="Aileron"/>
                <a:ea typeface="Aileron"/>
                <a:cs typeface="Aileron"/>
                <a:sym typeface="Aileron"/>
              </a:rPr>
              <a:t>l</a:t>
            </a:r>
            <a:r>
              <a:rPr lang="en-US" sz="2899" u="none" strike="noStrike">
                <a:solidFill>
                  <a:srgbClr val="F8F6F7"/>
                </a:solidFill>
                <a:latin typeface="Aileron"/>
                <a:ea typeface="Aileron"/>
                <a:cs typeface="Aileron"/>
                <a:sym typeface="Aileron"/>
              </a:rPr>
              <a:t>igns w</a:t>
            </a:r>
            <a:r>
              <a:rPr lang="en-US" sz="2899">
                <a:solidFill>
                  <a:srgbClr val="F8F6F7"/>
                </a:solidFill>
                <a:latin typeface="Aileron"/>
                <a:ea typeface="Aileron"/>
                <a:cs typeface="Aileron"/>
                <a:sym typeface="Aileron"/>
              </a:rPr>
              <a:t>it</a:t>
            </a:r>
            <a:r>
              <a:rPr lang="en-US" sz="2899" u="none" strike="noStrike">
                <a:solidFill>
                  <a:srgbClr val="F8F6F7"/>
                </a:solidFill>
                <a:latin typeface="Aileron"/>
                <a:ea typeface="Aileron"/>
                <a:cs typeface="Aileron"/>
                <a:sym typeface="Aileron"/>
              </a:rPr>
              <a:t>h</a:t>
            </a:r>
            <a:r>
              <a:rPr lang="en-US" sz="2899">
                <a:solidFill>
                  <a:srgbClr val="F8F6F7"/>
                </a:solidFill>
                <a:latin typeface="Aileron"/>
                <a:ea typeface="Aileron"/>
                <a:cs typeface="Aileron"/>
                <a:sym typeface="Aileron"/>
              </a:rPr>
              <a:t> </a:t>
            </a:r>
            <a:r>
              <a:rPr lang="en-US" sz="2899" u="none" strike="noStrike">
                <a:solidFill>
                  <a:srgbClr val="F8F6F7"/>
                </a:solidFill>
                <a:latin typeface="Aileron"/>
                <a:ea typeface="Aileron"/>
                <a:cs typeface="Aileron"/>
                <a:sym typeface="Aileron"/>
              </a:rPr>
              <a:t>real-w</a:t>
            </a:r>
            <a:r>
              <a:rPr lang="en-US" sz="2899">
                <a:solidFill>
                  <a:srgbClr val="F8F6F7"/>
                </a:solidFill>
                <a:latin typeface="Aileron"/>
                <a:ea typeface="Aileron"/>
                <a:cs typeface="Aileron"/>
                <a:sym typeface="Aileron"/>
              </a:rPr>
              <a:t>o</a:t>
            </a:r>
            <a:r>
              <a:rPr lang="en-US" sz="2899" u="none" strike="noStrike">
                <a:solidFill>
                  <a:srgbClr val="F8F6F7"/>
                </a:solidFill>
                <a:latin typeface="Aileron"/>
                <a:ea typeface="Aileron"/>
                <a:cs typeface="Aileron"/>
                <a:sym typeface="Aileron"/>
              </a:rPr>
              <a:t>rld</a:t>
            </a:r>
            <a:r>
              <a:rPr lang="en-US" sz="2899">
                <a:solidFill>
                  <a:srgbClr val="F8F6F7"/>
                </a:solidFill>
                <a:latin typeface="Aileron"/>
                <a:ea typeface="Aileron"/>
                <a:cs typeface="Aileron"/>
                <a:sym typeface="Aileron"/>
              </a:rPr>
              <a:t> </a:t>
            </a:r>
            <a:r>
              <a:rPr lang="en-US" sz="2899" u="none" strike="noStrike">
                <a:solidFill>
                  <a:srgbClr val="F8F6F7"/>
                </a:solidFill>
                <a:latin typeface="Aileron"/>
                <a:ea typeface="Aileron"/>
                <a:cs typeface="Aileron"/>
                <a:sym typeface="Aileron"/>
              </a:rPr>
              <a:t>ac</a:t>
            </a:r>
            <a:r>
              <a:rPr lang="en-US" sz="2899">
                <a:solidFill>
                  <a:srgbClr val="F8F6F7"/>
                </a:solidFill>
                <a:latin typeface="Aileron"/>
                <a:ea typeface="Aileron"/>
                <a:cs typeface="Aileron"/>
                <a:sym typeface="Aileron"/>
              </a:rPr>
              <a:t>a</a:t>
            </a:r>
            <a:r>
              <a:rPr lang="en-US" sz="2899" u="none" strike="noStrike">
                <a:solidFill>
                  <a:srgbClr val="F8F6F7"/>
                </a:solidFill>
                <a:latin typeface="Aileron"/>
                <a:ea typeface="Aileron"/>
                <a:cs typeface="Aileron"/>
                <a:sym typeface="Aileron"/>
              </a:rPr>
              <a:t>dem</a:t>
            </a:r>
            <a:r>
              <a:rPr lang="en-US" sz="2899">
                <a:solidFill>
                  <a:srgbClr val="F8F6F7"/>
                </a:solidFill>
                <a:latin typeface="Aileron"/>
                <a:ea typeface="Aileron"/>
                <a:cs typeface="Aileron"/>
                <a:sym typeface="Aileron"/>
              </a:rPr>
              <a:t>i</a:t>
            </a:r>
            <a:r>
              <a:rPr lang="en-US" sz="2899" u="none" strike="noStrike">
                <a:solidFill>
                  <a:srgbClr val="F8F6F7"/>
                </a:solidFill>
                <a:latin typeface="Aileron"/>
                <a:ea typeface="Aileron"/>
                <a:cs typeface="Aileron"/>
                <a:sym typeface="Aileron"/>
              </a:rPr>
              <a:t>c exp</a:t>
            </a:r>
            <a:r>
              <a:rPr lang="en-US" sz="2899">
                <a:solidFill>
                  <a:srgbClr val="F8F6F7"/>
                </a:solidFill>
                <a:latin typeface="Aileron"/>
                <a:ea typeface="Aileron"/>
                <a:cs typeface="Aileron"/>
                <a:sym typeface="Aileron"/>
              </a:rPr>
              <a:t>e</a:t>
            </a:r>
            <a:r>
              <a:rPr lang="en-US" sz="2899" u="none" strike="noStrike">
                <a:solidFill>
                  <a:srgbClr val="F8F6F7"/>
                </a:solidFill>
                <a:latin typeface="Aileron"/>
                <a:ea typeface="Aileron"/>
                <a:cs typeface="Aileron"/>
                <a:sym typeface="Aileron"/>
              </a:rPr>
              <a:t>ctations</a:t>
            </a:r>
          </a:p>
          <a:p>
            <a:pPr algn="l">
              <a:lnSpc>
                <a:spcPts val="4619"/>
              </a:lnSpc>
            </a:pPr>
            <a:endParaRPr lang="en-US" sz="2899" u="none" strike="noStrike">
              <a:solidFill>
                <a:srgbClr val="F8F6F7"/>
              </a:solidFill>
              <a:latin typeface="Aileron"/>
              <a:ea typeface="Aileron"/>
              <a:cs typeface="Aileron"/>
              <a:sym typeface="Aileron"/>
            </a:endParaRPr>
          </a:p>
        </p:txBody>
      </p:sp>
      <p:sp>
        <p:nvSpPr>
          <p:cNvPr id="8" name="Freeform 8">
            <a:extLst>
              <a:ext uri="{FF2B5EF4-FFF2-40B4-BE49-F238E27FC236}">
                <a16:creationId xmlns:a16="http://schemas.microsoft.com/office/drawing/2014/main" id="{A3ABDEB1-63EE-7146-D05F-F4D0F7C33E49}"/>
              </a:ext>
            </a:extLst>
          </p:cNvPr>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9" name="TextBox 9">
            <a:extLst>
              <a:ext uri="{FF2B5EF4-FFF2-40B4-BE49-F238E27FC236}">
                <a16:creationId xmlns:a16="http://schemas.microsoft.com/office/drawing/2014/main" id="{A23A7346-029F-018A-480B-481ABBC5D717}"/>
              </a:ext>
            </a:extLst>
          </p:cNvPr>
          <p:cNvSpPr txBox="1"/>
          <p:nvPr/>
        </p:nvSpPr>
        <p:spPr>
          <a:xfrm>
            <a:off x="1198143" y="3536917"/>
            <a:ext cx="8876830" cy="405765"/>
          </a:xfrm>
          <a:prstGeom prst="rect">
            <a:avLst/>
          </a:prstGeom>
        </p:spPr>
        <p:txBody>
          <a:bodyPr lIns="0" tIns="0" rIns="0" bIns="0" rtlCol="0" anchor="t">
            <a:spAutoFit/>
          </a:bodyPr>
          <a:lstStyle/>
          <a:p>
            <a:pPr algn="l">
              <a:lnSpc>
                <a:spcPts val="3030"/>
              </a:lnSpc>
            </a:pPr>
            <a:r>
              <a:rPr lang="en-US" sz="3000" b="1">
                <a:solidFill>
                  <a:srgbClr val="F8F6F7"/>
                </a:solidFill>
                <a:latin typeface="Aileron Bold"/>
                <a:ea typeface="Aileron Bold"/>
                <a:cs typeface="Aileron Bold"/>
                <a:sym typeface="Aileron Bold"/>
              </a:rPr>
              <a:t>Key Insights</a:t>
            </a:r>
          </a:p>
        </p:txBody>
      </p:sp>
    </p:spTree>
    <p:extLst>
      <p:ext uri="{BB962C8B-B14F-4D97-AF65-F5344CB8AC3E}">
        <p14:creationId xmlns:p14="http://schemas.microsoft.com/office/powerpoint/2010/main" val="544483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4812711" y="732175"/>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pic>
        <p:nvPicPr>
          <p:cNvPr id="17" name="Picture 16">
            <a:extLst>
              <a:ext uri="{FF2B5EF4-FFF2-40B4-BE49-F238E27FC236}">
                <a16:creationId xmlns:a16="http://schemas.microsoft.com/office/drawing/2014/main" id="{45C3F99B-BB00-E78F-2E11-35E8421B9BB8}"/>
              </a:ext>
            </a:extLst>
          </p:cNvPr>
          <p:cNvPicPr>
            <a:picLocks noChangeAspect="1"/>
          </p:cNvPicPr>
          <p:nvPr/>
        </p:nvPicPr>
        <p:blipFill>
          <a:blip r:embed="rId6"/>
          <a:stretch>
            <a:fillRect/>
          </a:stretch>
        </p:blipFill>
        <p:spPr>
          <a:xfrm>
            <a:off x="744297" y="2502554"/>
            <a:ext cx="16811721" cy="528189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4504405" y="505910"/>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67389"/>
            <a:ext cx="14958117" cy="1701165"/>
          </a:xfrm>
          <a:prstGeom prst="rect">
            <a:avLst/>
          </a:prstGeom>
        </p:spPr>
        <p:txBody>
          <a:bodyPr lIns="0" tIns="0" rIns="0" bIns="0" rtlCol="0" anchor="t">
            <a:spAutoFit/>
          </a:bodyPr>
          <a:lstStyle/>
          <a:p>
            <a:pPr marL="0" lvl="0" indent="0" algn="l">
              <a:lnSpc>
                <a:spcPts val="13080"/>
              </a:lnSpc>
            </a:pPr>
            <a:r>
              <a:rPr lang="en-US" sz="12000" b="1" spc="-780">
                <a:solidFill>
                  <a:srgbClr val="152047"/>
                </a:solidFill>
                <a:latin typeface="Open Sauce Bold"/>
                <a:ea typeface="Open Sauce Bold"/>
                <a:cs typeface="Open Sauce Bold"/>
                <a:sym typeface="Open Sauce Bold"/>
              </a:rPr>
              <a:t>System Features</a:t>
            </a:r>
          </a:p>
        </p:txBody>
      </p:sp>
      <p:sp>
        <p:nvSpPr>
          <p:cNvPr id="7" name="Freeform 7"/>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8" name="TextBox 8"/>
          <p:cNvSpPr txBox="1"/>
          <p:nvPr/>
        </p:nvSpPr>
        <p:spPr>
          <a:xfrm>
            <a:off x="1179093" y="4544279"/>
            <a:ext cx="7494230" cy="3724275"/>
          </a:xfrm>
          <a:prstGeom prst="rect">
            <a:avLst/>
          </a:prstGeom>
        </p:spPr>
        <p:txBody>
          <a:bodyPr lIns="0" tIns="0" rIns="0" bIns="0" rtlCol="0" anchor="t">
            <a:spAutoFit/>
          </a:bodyPr>
          <a:lstStyle/>
          <a:p>
            <a:pPr algn="l">
              <a:lnSpc>
                <a:spcPts val="4200"/>
              </a:lnSpc>
            </a:pPr>
            <a:r>
              <a:rPr lang="en-US" sz="3000">
                <a:solidFill>
                  <a:srgbClr val="152047"/>
                </a:solidFill>
                <a:latin typeface="Aileron"/>
                <a:ea typeface="Aileron"/>
                <a:cs typeface="Aileron"/>
                <a:sym typeface="Aileron"/>
              </a:rPr>
              <a:t>Staff Portal</a:t>
            </a:r>
          </a:p>
          <a:p>
            <a:pPr marL="647700" lvl="1" indent="-323850" algn="l">
              <a:lnSpc>
                <a:spcPts val="4200"/>
              </a:lnSpc>
              <a:buFont typeface="Arial"/>
              <a:buChar char="•"/>
            </a:pPr>
            <a:r>
              <a:rPr lang="en-US" sz="3000">
                <a:solidFill>
                  <a:srgbClr val="152047"/>
                </a:solidFill>
                <a:latin typeface="Aileron"/>
                <a:ea typeface="Aileron"/>
                <a:cs typeface="Aileron"/>
                <a:sym typeface="Aileron"/>
              </a:rPr>
              <a:t>Unit creation and configuration</a:t>
            </a:r>
          </a:p>
          <a:p>
            <a:pPr marL="647700" lvl="1" indent="-323850" algn="l">
              <a:lnSpc>
                <a:spcPts val="4200"/>
              </a:lnSpc>
              <a:buFont typeface="Arial"/>
              <a:buChar char="•"/>
            </a:pPr>
            <a:r>
              <a:rPr lang="en-US" sz="3000">
                <a:solidFill>
                  <a:srgbClr val="152047"/>
                </a:solidFill>
                <a:latin typeface="Aileron"/>
                <a:ea typeface="Aileron"/>
                <a:cs typeface="Aileron"/>
                <a:sym typeface="Aileron"/>
              </a:rPr>
              <a:t>Student enrolment and CSV import</a:t>
            </a:r>
          </a:p>
          <a:p>
            <a:pPr marL="647700" lvl="1" indent="-323850" algn="l">
              <a:lnSpc>
                <a:spcPts val="4200"/>
              </a:lnSpc>
              <a:buFont typeface="Arial"/>
              <a:buChar char="•"/>
            </a:pPr>
            <a:r>
              <a:rPr lang="en-US" sz="3000">
                <a:solidFill>
                  <a:srgbClr val="152047"/>
                </a:solidFill>
                <a:latin typeface="Aileron"/>
                <a:ea typeface="Aileron"/>
                <a:cs typeface="Aileron"/>
                <a:sym typeface="Aileron"/>
              </a:rPr>
              <a:t>Execution of prediction pipeline</a:t>
            </a:r>
          </a:p>
          <a:p>
            <a:pPr marL="647700" lvl="1" indent="-323850" algn="l">
              <a:lnSpc>
                <a:spcPts val="4200"/>
              </a:lnSpc>
              <a:buFont typeface="Arial"/>
              <a:buChar char="•"/>
            </a:pPr>
            <a:r>
              <a:rPr lang="en-US" sz="3000">
                <a:solidFill>
                  <a:srgbClr val="152047"/>
                </a:solidFill>
                <a:latin typeface="Aileron"/>
                <a:ea typeface="Aileron"/>
                <a:cs typeface="Aileron"/>
                <a:sym typeface="Aileron"/>
              </a:rPr>
              <a:t>Cohort-level analytics dashboard</a:t>
            </a:r>
          </a:p>
          <a:p>
            <a:pPr marL="647700" lvl="1" indent="-323850" algn="l">
              <a:lnSpc>
                <a:spcPts val="4200"/>
              </a:lnSpc>
              <a:buFont typeface="Arial"/>
              <a:buChar char="•"/>
            </a:pPr>
            <a:r>
              <a:rPr lang="en-US" sz="3000">
                <a:solidFill>
                  <a:srgbClr val="152047"/>
                </a:solidFill>
                <a:latin typeface="Aileron"/>
                <a:ea typeface="Aileron"/>
                <a:cs typeface="Aileron"/>
                <a:sym typeface="Aileron"/>
              </a:rPr>
              <a:t>Export of reports (PDF, CSV, JSON)</a:t>
            </a:r>
          </a:p>
          <a:p>
            <a:pPr algn="l">
              <a:lnSpc>
                <a:spcPts val="4200"/>
              </a:lnSpc>
            </a:pPr>
            <a:endParaRPr lang="en-US" sz="3000">
              <a:solidFill>
                <a:srgbClr val="152047"/>
              </a:solidFill>
              <a:latin typeface="Aileron"/>
              <a:ea typeface="Aileron"/>
              <a:cs typeface="Aileron"/>
              <a:sym typeface="Aileron"/>
            </a:endParaRPr>
          </a:p>
        </p:txBody>
      </p:sp>
      <p:sp>
        <p:nvSpPr>
          <p:cNvPr id="9" name="TextBox 9"/>
          <p:cNvSpPr txBox="1"/>
          <p:nvPr/>
        </p:nvSpPr>
        <p:spPr>
          <a:xfrm>
            <a:off x="9791238" y="4738629"/>
            <a:ext cx="7369462" cy="2657475"/>
          </a:xfrm>
          <a:prstGeom prst="rect">
            <a:avLst/>
          </a:prstGeom>
        </p:spPr>
        <p:txBody>
          <a:bodyPr lIns="0" tIns="0" rIns="0" bIns="0" rtlCol="0" anchor="t">
            <a:spAutoFit/>
          </a:bodyPr>
          <a:lstStyle/>
          <a:p>
            <a:pPr algn="l">
              <a:lnSpc>
                <a:spcPts val="4200"/>
              </a:lnSpc>
            </a:pPr>
            <a:r>
              <a:rPr lang="en-US" sz="3000">
                <a:solidFill>
                  <a:srgbClr val="152047"/>
                </a:solidFill>
                <a:latin typeface="Aileron"/>
                <a:ea typeface="Aileron"/>
                <a:cs typeface="Aileron"/>
                <a:sym typeface="Aileron"/>
              </a:rPr>
              <a:t>Student Portal</a:t>
            </a:r>
          </a:p>
          <a:p>
            <a:pPr marL="647700" lvl="1" indent="-323850" algn="l">
              <a:lnSpc>
                <a:spcPts val="4200"/>
              </a:lnSpc>
              <a:buFont typeface="Arial"/>
              <a:buChar char="•"/>
            </a:pPr>
            <a:r>
              <a:rPr lang="en-US" sz="3000">
                <a:solidFill>
                  <a:srgbClr val="152047"/>
                </a:solidFill>
                <a:latin typeface="Aileron"/>
                <a:ea typeface="Aileron"/>
                <a:cs typeface="Aileron"/>
                <a:sym typeface="Aileron"/>
              </a:rPr>
              <a:t>View enrolled units</a:t>
            </a:r>
          </a:p>
          <a:p>
            <a:pPr marL="647700" lvl="1" indent="-323850" algn="l">
              <a:lnSpc>
                <a:spcPts val="4200"/>
              </a:lnSpc>
              <a:buFont typeface="Arial"/>
              <a:buChar char="•"/>
            </a:pPr>
            <a:r>
              <a:rPr lang="en-US" sz="3000">
                <a:solidFill>
                  <a:srgbClr val="152047"/>
                </a:solidFill>
                <a:latin typeface="Aileron"/>
                <a:ea typeface="Aileron"/>
                <a:cs typeface="Aileron"/>
                <a:sym typeface="Aileron"/>
              </a:rPr>
              <a:t>Submit performance data</a:t>
            </a:r>
          </a:p>
          <a:p>
            <a:pPr marL="647700" lvl="1" indent="-323850" algn="l">
              <a:lnSpc>
                <a:spcPts val="4200"/>
              </a:lnSpc>
              <a:buFont typeface="Arial"/>
              <a:buChar char="•"/>
            </a:pPr>
            <a:r>
              <a:rPr lang="en-US" sz="3000">
                <a:solidFill>
                  <a:srgbClr val="152047"/>
                </a:solidFill>
                <a:latin typeface="Aileron"/>
                <a:ea typeface="Aileron"/>
                <a:cs typeface="Aileron"/>
                <a:sym typeface="Aileron"/>
              </a:rPr>
              <a:t>Monitor risk status</a:t>
            </a:r>
          </a:p>
          <a:p>
            <a:pPr marL="647700" lvl="1" indent="-323850" algn="l">
              <a:lnSpc>
                <a:spcPts val="4200"/>
              </a:lnSpc>
              <a:buFont typeface="Arial"/>
              <a:buChar char="•"/>
            </a:pPr>
            <a:r>
              <a:rPr lang="en-US" sz="3000">
                <a:solidFill>
                  <a:srgbClr val="152047"/>
                </a:solidFill>
                <a:latin typeface="Aileron"/>
                <a:ea typeface="Aileron"/>
                <a:cs typeface="Aileron"/>
                <a:sym typeface="Aileron"/>
              </a:rPr>
              <a:t>Download personalised reports</a:t>
            </a:r>
          </a:p>
        </p:txBody>
      </p:sp>
      <p:sp>
        <p:nvSpPr>
          <p:cNvPr id="10" name="AutoShape 10"/>
          <p:cNvSpPr/>
          <p:nvPr/>
        </p:nvSpPr>
        <p:spPr>
          <a:xfrm flipV="1">
            <a:off x="8991600" y="4172804"/>
            <a:ext cx="0" cy="4756150"/>
          </a:xfrm>
          <a:prstGeom prst="line">
            <a:avLst/>
          </a:prstGeom>
          <a:ln w="38100" cap="flat">
            <a:solidFill>
              <a:srgbClr val="152047">
                <a:alpha val="37647"/>
              </a:srgbClr>
            </a:solidFill>
            <a:prstDash val="solid"/>
            <a:headEnd type="none" w="sm" len="sm"/>
            <a:tailEnd type="none" w="sm" len="sm"/>
          </a:ln>
        </p:spPr>
        <p:txBody>
          <a:bodyPr/>
          <a:lstStyle/>
          <a:p>
            <a:endParaRPr lang="LID4096"/>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711857" y="-6696902"/>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4812711" y="732175"/>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585273"/>
            <a:ext cx="15162569" cy="1544445"/>
          </a:xfrm>
          <a:prstGeom prst="rect">
            <a:avLst/>
          </a:prstGeom>
        </p:spPr>
        <p:txBody>
          <a:bodyPr lIns="0" tIns="0" rIns="0" bIns="0" rtlCol="0" anchor="t">
            <a:spAutoFit/>
          </a:bodyPr>
          <a:lstStyle/>
          <a:p>
            <a:pPr marL="0" lvl="0" indent="0" algn="l">
              <a:lnSpc>
                <a:spcPts val="11999"/>
              </a:lnSpc>
            </a:pPr>
            <a:r>
              <a:rPr lang="en-US" sz="11008" b="1" spc="-715">
                <a:solidFill>
                  <a:srgbClr val="F8F6F7"/>
                </a:solidFill>
                <a:latin typeface="Open Sauce Bold"/>
                <a:ea typeface="Open Sauce Bold"/>
                <a:cs typeface="Open Sauce Bold"/>
                <a:sym typeface="Open Sauce Bold"/>
              </a:rPr>
              <a:t>Evaluation Approach</a:t>
            </a:r>
          </a:p>
        </p:txBody>
      </p:sp>
      <p:sp>
        <p:nvSpPr>
          <p:cNvPr id="7" name="TextBox 7"/>
          <p:cNvSpPr txBox="1"/>
          <p:nvPr/>
        </p:nvSpPr>
        <p:spPr>
          <a:xfrm>
            <a:off x="1179093" y="4397427"/>
            <a:ext cx="7494230" cy="5324475"/>
          </a:xfrm>
          <a:prstGeom prst="rect">
            <a:avLst/>
          </a:prstGeom>
        </p:spPr>
        <p:txBody>
          <a:bodyPr lIns="0" tIns="0" rIns="0" bIns="0" rtlCol="0" anchor="t">
            <a:spAutoFit/>
          </a:bodyPr>
          <a:lstStyle/>
          <a:p>
            <a:pPr algn="l">
              <a:lnSpc>
                <a:spcPts val="4200"/>
              </a:lnSpc>
            </a:pPr>
            <a:r>
              <a:rPr lang="en-US" sz="3000">
                <a:solidFill>
                  <a:srgbClr val="F8F6F7"/>
                </a:solidFill>
                <a:latin typeface="Aileron"/>
                <a:ea typeface="Aileron"/>
                <a:cs typeface="Aileron"/>
                <a:sym typeface="Aileron"/>
              </a:rPr>
              <a:t>Metrics Used</a:t>
            </a:r>
          </a:p>
          <a:p>
            <a:pPr marL="647700" lvl="1" indent="-323850" algn="l">
              <a:lnSpc>
                <a:spcPts val="4200"/>
              </a:lnSpc>
              <a:buFont typeface="Arial"/>
              <a:buChar char="•"/>
            </a:pPr>
            <a:r>
              <a:rPr lang="en-US" sz="3000">
                <a:solidFill>
                  <a:srgbClr val="F8F6F7"/>
                </a:solidFill>
                <a:latin typeface="Aileron"/>
                <a:ea typeface="Aileron"/>
                <a:cs typeface="Aileron"/>
                <a:sym typeface="Aileron"/>
              </a:rPr>
              <a:t>Precision → measures correctness of predictions</a:t>
            </a:r>
          </a:p>
          <a:p>
            <a:pPr marL="647700" lvl="1" indent="-323850" algn="l">
              <a:lnSpc>
                <a:spcPts val="4200"/>
              </a:lnSpc>
              <a:buFont typeface="Arial"/>
              <a:buChar char="•"/>
            </a:pPr>
            <a:r>
              <a:rPr lang="en-US" sz="3000">
                <a:solidFill>
                  <a:srgbClr val="F8F6F7"/>
                </a:solidFill>
                <a:latin typeface="Aileron"/>
                <a:ea typeface="Aileron"/>
                <a:cs typeface="Aileron"/>
                <a:sym typeface="Aileron"/>
              </a:rPr>
              <a:t>Recall → measures ability to detect at-risk students</a:t>
            </a:r>
          </a:p>
          <a:p>
            <a:pPr marL="647700" lvl="1" indent="-323850" algn="l">
              <a:lnSpc>
                <a:spcPts val="4200"/>
              </a:lnSpc>
              <a:buFont typeface="Arial"/>
              <a:buChar char="•"/>
            </a:pPr>
            <a:r>
              <a:rPr lang="en-US" sz="3000">
                <a:solidFill>
                  <a:srgbClr val="F8F6F7"/>
                </a:solidFill>
                <a:latin typeface="Aileron"/>
                <a:ea typeface="Aileron"/>
                <a:cs typeface="Aileron"/>
                <a:sym typeface="Aileron"/>
              </a:rPr>
              <a:t>F1-score → balances precision and recall</a:t>
            </a:r>
          </a:p>
          <a:p>
            <a:pPr marL="647700" lvl="1" indent="-323850" algn="l">
              <a:lnSpc>
                <a:spcPts val="4200"/>
              </a:lnSpc>
              <a:buFont typeface="Arial"/>
              <a:buChar char="•"/>
            </a:pPr>
            <a:r>
              <a:rPr lang="en-US" sz="3000">
                <a:solidFill>
                  <a:srgbClr val="F8F6F7"/>
                </a:solidFill>
                <a:latin typeface="Aileron"/>
                <a:ea typeface="Aileron"/>
                <a:cs typeface="Aileron"/>
                <a:sym typeface="Aileron"/>
              </a:rPr>
              <a:t>ROC-AUC → evaluates classification performance</a:t>
            </a:r>
          </a:p>
          <a:p>
            <a:pPr algn="l">
              <a:lnSpc>
                <a:spcPts val="4200"/>
              </a:lnSpc>
            </a:pPr>
            <a:endParaRPr lang="en-US" sz="3000">
              <a:solidFill>
                <a:srgbClr val="F8F6F7"/>
              </a:solidFill>
              <a:latin typeface="Aileron"/>
              <a:ea typeface="Aileron"/>
              <a:cs typeface="Aileron"/>
              <a:sym typeface="Aileron"/>
            </a:endParaRPr>
          </a:p>
        </p:txBody>
      </p:sp>
      <p:sp>
        <p:nvSpPr>
          <p:cNvPr id="8" name="Freeform 8"/>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9" name="TextBox 9"/>
          <p:cNvSpPr txBox="1"/>
          <p:nvPr/>
        </p:nvSpPr>
        <p:spPr>
          <a:xfrm>
            <a:off x="10207702" y="5076825"/>
            <a:ext cx="7674869" cy="3190875"/>
          </a:xfrm>
          <a:prstGeom prst="rect">
            <a:avLst/>
          </a:prstGeom>
        </p:spPr>
        <p:txBody>
          <a:bodyPr lIns="0" tIns="0" rIns="0" bIns="0" rtlCol="0" anchor="t">
            <a:spAutoFit/>
          </a:bodyPr>
          <a:lstStyle/>
          <a:p>
            <a:pPr algn="l">
              <a:lnSpc>
                <a:spcPts val="4200"/>
              </a:lnSpc>
            </a:pPr>
            <a:r>
              <a:rPr lang="en-US" sz="3000">
                <a:solidFill>
                  <a:srgbClr val="F8F6F7"/>
                </a:solidFill>
                <a:latin typeface="Aileron"/>
                <a:ea typeface="Aileron"/>
                <a:cs typeface="Aileron"/>
                <a:sym typeface="Aileron"/>
              </a:rPr>
              <a:t>Validation Strategy</a:t>
            </a:r>
          </a:p>
          <a:p>
            <a:pPr marL="647700" lvl="1" indent="-323850" algn="l">
              <a:lnSpc>
                <a:spcPts val="4200"/>
              </a:lnSpc>
              <a:buFont typeface="Arial"/>
              <a:buChar char="•"/>
            </a:pPr>
            <a:r>
              <a:rPr lang="en-US" sz="3000">
                <a:solidFill>
                  <a:srgbClr val="F8F6F7"/>
                </a:solidFill>
                <a:latin typeface="Aileron"/>
                <a:ea typeface="Aileron"/>
                <a:cs typeface="Aileron"/>
                <a:sym typeface="Aileron"/>
              </a:rPr>
              <a:t>Cross-validation ensures robustness</a:t>
            </a:r>
          </a:p>
          <a:p>
            <a:pPr marL="647700" lvl="1" indent="-323850" algn="l">
              <a:lnSpc>
                <a:spcPts val="4200"/>
              </a:lnSpc>
              <a:buFont typeface="Arial"/>
              <a:buChar char="•"/>
            </a:pPr>
            <a:r>
              <a:rPr lang="en-US" sz="3000">
                <a:solidFill>
                  <a:srgbClr val="F8F6F7"/>
                </a:solidFill>
                <a:latin typeface="Aileron"/>
                <a:ea typeface="Aileron"/>
                <a:cs typeface="Aileron"/>
                <a:sym typeface="Aileron"/>
              </a:rPr>
              <a:t>SMOTE applied to handle class imbalance</a:t>
            </a:r>
          </a:p>
          <a:p>
            <a:pPr algn="l">
              <a:lnSpc>
                <a:spcPts val="4200"/>
              </a:lnSpc>
            </a:pPr>
            <a:r>
              <a:rPr lang="en-US" sz="3000">
                <a:solidFill>
                  <a:srgbClr val="F8F6F7"/>
                </a:solidFill>
                <a:latin typeface="Aileron"/>
                <a:ea typeface="Aileron"/>
                <a:cs typeface="Aileron"/>
                <a:sym typeface="Aileron"/>
              </a:rPr>
              <a:t>Focus is on early detection and reliability</a:t>
            </a:r>
          </a:p>
          <a:p>
            <a:pPr algn="l">
              <a:lnSpc>
                <a:spcPts val="4200"/>
              </a:lnSpc>
            </a:pPr>
            <a:endParaRPr lang="en-US" sz="3000">
              <a:solidFill>
                <a:srgbClr val="F8F6F7"/>
              </a:solidFill>
              <a:latin typeface="Aileron"/>
              <a:ea typeface="Aileron"/>
              <a:cs typeface="Aileron"/>
              <a:sym typeface="Aileron"/>
            </a:endParaRPr>
          </a:p>
        </p:txBody>
      </p:sp>
      <p:sp>
        <p:nvSpPr>
          <p:cNvPr id="10" name="AutoShape 10"/>
          <p:cNvSpPr/>
          <p:nvPr/>
        </p:nvSpPr>
        <p:spPr>
          <a:xfrm flipV="1">
            <a:off x="8991600" y="4733951"/>
            <a:ext cx="0" cy="4756150"/>
          </a:xfrm>
          <a:prstGeom prst="line">
            <a:avLst/>
          </a:prstGeom>
          <a:ln w="38100" cap="flat">
            <a:solidFill>
              <a:srgbClr val="F8F6F7">
                <a:alpha val="37647"/>
              </a:srgbClr>
            </a:solidFill>
            <a:prstDash val="solid"/>
            <a:headEnd type="none" w="sm" len="sm"/>
            <a:tailEnd type="none" w="sm" len="sm"/>
          </a:ln>
        </p:spPr>
        <p:txBody>
          <a:bodyPr/>
          <a:lstStyle/>
          <a:p>
            <a:endParaRPr lang="LID4096"/>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a:extLst>
            <a:ext uri="{FF2B5EF4-FFF2-40B4-BE49-F238E27FC236}">
              <a16:creationId xmlns:a16="http://schemas.microsoft.com/office/drawing/2014/main" id="{56CCAD69-0FA5-E7EA-E065-8E4AAF25B07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A5091DC-41E9-66F7-A18D-A1AFC7266B8E}"/>
              </a:ext>
            </a:extLst>
          </p:cNvPr>
          <p:cNvSpPr/>
          <p:nvPr/>
        </p:nvSpPr>
        <p:spPr>
          <a:xfrm rot="-557702" flipH="1" flipV="1">
            <a:off x="-711857" y="-6696902"/>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a:extLst>
              <a:ext uri="{FF2B5EF4-FFF2-40B4-BE49-F238E27FC236}">
                <a16:creationId xmlns:a16="http://schemas.microsoft.com/office/drawing/2014/main" id="{83B60F56-CB69-4040-70BC-2ED04462DAC0}"/>
              </a:ext>
            </a:extLst>
          </p:cNvPr>
          <p:cNvGrpSpPr/>
          <p:nvPr/>
        </p:nvGrpSpPr>
        <p:grpSpPr>
          <a:xfrm>
            <a:off x="14812711" y="732175"/>
            <a:ext cx="2757118" cy="2757118"/>
            <a:chOff x="0" y="0"/>
            <a:chExt cx="812800" cy="812800"/>
          </a:xfrm>
        </p:grpSpPr>
        <p:sp>
          <p:nvSpPr>
            <p:cNvPr id="4" name="Freeform 4">
              <a:extLst>
                <a:ext uri="{FF2B5EF4-FFF2-40B4-BE49-F238E27FC236}">
                  <a16:creationId xmlns:a16="http://schemas.microsoft.com/office/drawing/2014/main" id="{4013E68D-B34A-189D-72F7-A4BF30C68D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a:extLst>
                <a:ext uri="{FF2B5EF4-FFF2-40B4-BE49-F238E27FC236}">
                  <a16:creationId xmlns:a16="http://schemas.microsoft.com/office/drawing/2014/main" id="{F08B20FD-82E8-04AE-A21E-34CFC8AB2C8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a:extLst>
              <a:ext uri="{FF2B5EF4-FFF2-40B4-BE49-F238E27FC236}">
                <a16:creationId xmlns:a16="http://schemas.microsoft.com/office/drawing/2014/main" id="{BE2E3DCB-DFBF-4221-F57C-89AAC83471E3}"/>
              </a:ext>
            </a:extLst>
          </p:cNvPr>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pic>
        <p:nvPicPr>
          <p:cNvPr id="11" name="Picture 10">
            <a:extLst>
              <a:ext uri="{FF2B5EF4-FFF2-40B4-BE49-F238E27FC236}">
                <a16:creationId xmlns:a16="http://schemas.microsoft.com/office/drawing/2014/main" id="{81109350-6F5E-5D03-673C-A895864A32FE}"/>
              </a:ext>
            </a:extLst>
          </p:cNvPr>
          <p:cNvPicPr>
            <a:picLocks noChangeAspect="1"/>
          </p:cNvPicPr>
          <p:nvPr/>
        </p:nvPicPr>
        <p:blipFill>
          <a:blip r:embed="rId6"/>
          <a:stretch>
            <a:fillRect/>
          </a:stretch>
        </p:blipFill>
        <p:spPr>
          <a:xfrm>
            <a:off x="2057400" y="393708"/>
            <a:ext cx="11049000" cy="4491464"/>
          </a:xfrm>
          <a:prstGeom prst="rect">
            <a:avLst/>
          </a:prstGeom>
        </p:spPr>
      </p:pic>
      <p:pic>
        <p:nvPicPr>
          <p:cNvPr id="13" name="Picture 12">
            <a:extLst>
              <a:ext uri="{FF2B5EF4-FFF2-40B4-BE49-F238E27FC236}">
                <a16:creationId xmlns:a16="http://schemas.microsoft.com/office/drawing/2014/main" id="{E59ADF3A-0A6A-400E-F632-368BC46561BB}"/>
              </a:ext>
            </a:extLst>
          </p:cNvPr>
          <p:cNvPicPr>
            <a:picLocks noChangeAspect="1"/>
          </p:cNvPicPr>
          <p:nvPr/>
        </p:nvPicPr>
        <p:blipFill>
          <a:blip r:embed="rId7"/>
          <a:stretch>
            <a:fillRect/>
          </a:stretch>
        </p:blipFill>
        <p:spPr>
          <a:xfrm>
            <a:off x="7411503" y="5143500"/>
            <a:ext cx="7825476" cy="4778455"/>
          </a:xfrm>
          <a:prstGeom prst="rect">
            <a:avLst/>
          </a:prstGeom>
        </p:spPr>
      </p:pic>
    </p:spTree>
    <p:extLst>
      <p:ext uri="{BB962C8B-B14F-4D97-AF65-F5344CB8AC3E}">
        <p14:creationId xmlns:p14="http://schemas.microsoft.com/office/powerpoint/2010/main" val="1379983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44677" y="-6253680"/>
            <a:ext cx="20100413" cy="17615271"/>
          </a:xfrm>
          <a:custGeom>
            <a:avLst/>
            <a:gdLst/>
            <a:ahLst/>
            <a:cxnLst/>
            <a:rect l="l" t="t" r="r" b="b"/>
            <a:pathLst>
              <a:path w="20100413" h="17615271">
                <a:moveTo>
                  <a:pt x="20100414" y="17615271"/>
                </a:moveTo>
                <a:lnTo>
                  <a:pt x="0" y="17615271"/>
                </a:lnTo>
                <a:lnTo>
                  <a:pt x="0" y="0"/>
                </a:lnTo>
                <a:lnTo>
                  <a:pt x="20100414" y="0"/>
                </a:lnTo>
                <a:lnTo>
                  <a:pt x="20100414"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4504405" y="505910"/>
            <a:ext cx="2900297" cy="290029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167389"/>
            <a:ext cx="14958117" cy="1701165"/>
          </a:xfrm>
          <a:prstGeom prst="rect">
            <a:avLst/>
          </a:prstGeom>
        </p:spPr>
        <p:txBody>
          <a:bodyPr lIns="0" tIns="0" rIns="0" bIns="0" rtlCol="0" anchor="t">
            <a:spAutoFit/>
          </a:bodyPr>
          <a:lstStyle/>
          <a:p>
            <a:pPr marL="0" lvl="0" indent="0" algn="l">
              <a:lnSpc>
                <a:spcPts val="13080"/>
              </a:lnSpc>
            </a:pPr>
            <a:r>
              <a:rPr lang="en-US" sz="12000" b="1" spc="-780">
                <a:solidFill>
                  <a:srgbClr val="152047"/>
                </a:solidFill>
                <a:latin typeface="Open Sauce Bold"/>
                <a:ea typeface="Open Sauce Bold"/>
                <a:cs typeface="Open Sauce Bold"/>
                <a:sym typeface="Open Sauce Bold"/>
              </a:rPr>
              <a:t>Limitations</a:t>
            </a:r>
          </a:p>
        </p:txBody>
      </p:sp>
      <p:sp>
        <p:nvSpPr>
          <p:cNvPr id="7" name="Freeform 7"/>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8" name="TextBox 8"/>
          <p:cNvSpPr txBox="1"/>
          <p:nvPr/>
        </p:nvSpPr>
        <p:spPr>
          <a:xfrm>
            <a:off x="1028700" y="3339532"/>
            <a:ext cx="16131999" cy="6391275"/>
          </a:xfrm>
          <a:prstGeom prst="rect">
            <a:avLst/>
          </a:prstGeom>
        </p:spPr>
        <p:txBody>
          <a:bodyPr lIns="0" tIns="0" rIns="0" bIns="0" rtlCol="0" anchor="t">
            <a:spAutoFit/>
          </a:bodyPr>
          <a:lstStyle/>
          <a:p>
            <a:pPr algn="l">
              <a:lnSpc>
                <a:spcPts val="4200"/>
              </a:lnSpc>
            </a:pPr>
            <a:r>
              <a:rPr lang="en-US" sz="3000">
                <a:solidFill>
                  <a:srgbClr val="152047"/>
                </a:solidFill>
                <a:latin typeface="Aileron"/>
                <a:ea typeface="Aileron"/>
                <a:cs typeface="Aileron"/>
                <a:sym typeface="Aileron"/>
              </a:rPr>
              <a:t>Feature limitations</a:t>
            </a:r>
          </a:p>
          <a:p>
            <a:pPr marL="647700" lvl="1" indent="-323850" algn="l">
              <a:lnSpc>
                <a:spcPts val="4200"/>
              </a:lnSpc>
              <a:buFont typeface="Arial"/>
              <a:buChar char="•"/>
            </a:pPr>
            <a:r>
              <a:rPr lang="en-US" sz="3000">
                <a:solidFill>
                  <a:srgbClr val="152047"/>
                </a:solidFill>
                <a:latin typeface="Aileron"/>
                <a:ea typeface="Aileron"/>
                <a:cs typeface="Aileron"/>
                <a:sym typeface="Aileron"/>
              </a:rPr>
              <a:t> Does not include detailed engagement data such as LMS activity, attendance, or participation patterns</a:t>
            </a:r>
          </a:p>
          <a:p>
            <a:pPr algn="l">
              <a:lnSpc>
                <a:spcPts val="4200"/>
              </a:lnSpc>
            </a:pPr>
            <a:r>
              <a:rPr lang="en-US" sz="3000">
                <a:solidFill>
                  <a:srgbClr val="152047"/>
                </a:solidFill>
                <a:latin typeface="Aileron"/>
                <a:ea typeface="Aileron"/>
                <a:cs typeface="Aileron"/>
                <a:sym typeface="Aileron"/>
              </a:rPr>
              <a:t>Class imbalance challenges</a:t>
            </a:r>
          </a:p>
          <a:p>
            <a:pPr marL="647700" lvl="1" indent="-323850" algn="l">
              <a:lnSpc>
                <a:spcPts val="4200"/>
              </a:lnSpc>
              <a:buFont typeface="Arial"/>
              <a:buChar char="•"/>
            </a:pPr>
            <a:r>
              <a:rPr lang="en-US" sz="3000">
                <a:solidFill>
                  <a:srgbClr val="152047"/>
                </a:solidFill>
                <a:latin typeface="Aileron"/>
                <a:ea typeface="Aileron"/>
                <a:cs typeface="Aileron"/>
                <a:sym typeface="Aileron"/>
              </a:rPr>
              <a:t> Although SMOTE is used, synthetic data may not perfectly reflect real at-risk cases</a:t>
            </a:r>
          </a:p>
          <a:p>
            <a:pPr algn="l">
              <a:lnSpc>
                <a:spcPts val="4200"/>
              </a:lnSpc>
            </a:pPr>
            <a:r>
              <a:rPr lang="en-US" sz="3000">
                <a:solidFill>
                  <a:srgbClr val="152047"/>
                </a:solidFill>
                <a:latin typeface="Aileron"/>
                <a:ea typeface="Aileron"/>
                <a:cs typeface="Aileron"/>
                <a:sym typeface="Aileron"/>
              </a:rPr>
              <a:t>Simplified system security</a:t>
            </a:r>
          </a:p>
          <a:p>
            <a:pPr marL="647700" lvl="1" indent="-323850" algn="l">
              <a:lnSpc>
                <a:spcPts val="4200"/>
              </a:lnSpc>
              <a:buFont typeface="Arial"/>
              <a:buChar char="•"/>
            </a:pPr>
            <a:r>
              <a:rPr lang="en-US" sz="3000">
                <a:solidFill>
                  <a:srgbClr val="152047"/>
                </a:solidFill>
                <a:latin typeface="Aileron"/>
                <a:ea typeface="Aileron"/>
                <a:cs typeface="Aileron"/>
                <a:sym typeface="Aileron"/>
              </a:rPr>
              <a:t> Basic authentication and access control, not suitable for real-world deployment</a:t>
            </a:r>
          </a:p>
          <a:p>
            <a:pPr algn="l">
              <a:lnSpc>
                <a:spcPts val="4200"/>
              </a:lnSpc>
            </a:pPr>
            <a:r>
              <a:rPr lang="en-US" sz="3000">
                <a:solidFill>
                  <a:srgbClr val="152047"/>
                </a:solidFill>
                <a:latin typeface="Aileron"/>
                <a:ea typeface="Aileron"/>
                <a:cs typeface="Aileron"/>
                <a:sym typeface="Aileron"/>
              </a:rPr>
              <a:t>Scalability limitations</a:t>
            </a:r>
          </a:p>
          <a:p>
            <a:pPr marL="647700" lvl="1" indent="-323850" algn="l">
              <a:lnSpc>
                <a:spcPts val="4200"/>
              </a:lnSpc>
              <a:buFont typeface="Arial"/>
              <a:buChar char="•"/>
            </a:pPr>
            <a:r>
              <a:rPr lang="en-US" sz="3000">
                <a:solidFill>
                  <a:srgbClr val="152047"/>
                </a:solidFill>
                <a:latin typeface="Aileron"/>
                <a:ea typeface="Aileron"/>
                <a:cs typeface="Aileron"/>
                <a:sym typeface="Aileron"/>
              </a:rPr>
              <a:t> SQLite and local setup may not support large-scale institutional usage</a:t>
            </a:r>
          </a:p>
          <a:p>
            <a:pPr algn="l">
              <a:lnSpc>
                <a:spcPts val="4200"/>
              </a:lnSpc>
            </a:pPr>
            <a:r>
              <a:rPr lang="en-US" sz="3000">
                <a:solidFill>
                  <a:srgbClr val="152047"/>
                </a:solidFill>
                <a:latin typeface="Aileron"/>
                <a:ea typeface="Aileron"/>
                <a:cs typeface="Aileron"/>
                <a:sym typeface="Aileron"/>
              </a:rPr>
              <a:t>Manual data input dependency</a:t>
            </a:r>
          </a:p>
          <a:p>
            <a:pPr marL="647700" lvl="1" indent="-323850" algn="l">
              <a:lnSpc>
                <a:spcPts val="4200"/>
              </a:lnSpc>
              <a:buFont typeface="Arial"/>
              <a:buChar char="•"/>
            </a:pPr>
            <a:r>
              <a:rPr lang="en-US" sz="3000">
                <a:solidFill>
                  <a:srgbClr val="152047"/>
                </a:solidFill>
                <a:latin typeface="Aileron"/>
                <a:ea typeface="Aileron"/>
                <a:cs typeface="Aileron"/>
                <a:sym typeface="Aileron"/>
              </a:rPr>
              <a:t> Relies on CSV uploads rather than automated LMS integration</a:t>
            </a:r>
          </a:p>
          <a:p>
            <a:pPr algn="l">
              <a:lnSpc>
                <a:spcPts val="4200"/>
              </a:lnSpc>
            </a:pPr>
            <a:endParaRPr lang="en-US" sz="3000">
              <a:solidFill>
                <a:srgbClr val="152047"/>
              </a:solidFill>
              <a:latin typeface="Aileron"/>
              <a:ea typeface="Aileron"/>
              <a:cs typeface="Aileron"/>
              <a:sym typeface="Ailero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1683607" y="-5677918"/>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12128746" y="917024"/>
            <a:ext cx="2757118" cy="275711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1585273"/>
            <a:ext cx="15162569" cy="1544445"/>
          </a:xfrm>
          <a:prstGeom prst="rect">
            <a:avLst/>
          </a:prstGeom>
        </p:spPr>
        <p:txBody>
          <a:bodyPr lIns="0" tIns="0" rIns="0" bIns="0" rtlCol="0" anchor="t">
            <a:spAutoFit/>
          </a:bodyPr>
          <a:lstStyle/>
          <a:p>
            <a:pPr marL="0" lvl="0" indent="0" algn="l">
              <a:lnSpc>
                <a:spcPts val="11999"/>
              </a:lnSpc>
            </a:pPr>
            <a:r>
              <a:rPr lang="en-US" sz="11008" b="1" spc="-715">
                <a:solidFill>
                  <a:srgbClr val="F8F6F7"/>
                </a:solidFill>
                <a:latin typeface="Open Sauce Bold"/>
                <a:ea typeface="Open Sauce Bold"/>
                <a:cs typeface="Open Sauce Bold"/>
                <a:sym typeface="Open Sauce Bold"/>
              </a:rPr>
              <a:t>Future Work</a:t>
            </a:r>
          </a:p>
        </p:txBody>
      </p:sp>
      <p:sp>
        <p:nvSpPr>
          <p:cNvPr id="7" name="TextBox 7"/>
          <p:cNvSpPr txBox="1"/>
          <p:nvPr/>
        </p:nvSpPr>
        <p:spPr>
          <a:xfrm>
            <a:off x="1028700" y="3560471"/>
            <a:ext cx="15826592" cy="5929630"/>
          </a:xfrm>
          <a:prstGeom prst="rect">
            <a:avLst/>
          </a:prstGeom>
        </p:spPr>
        <p:txBody>
          <a:bodyPr lIns="0" tIns="0" rIns="0" bIns="0" rtlCol="0" anchor="t">
            <a:spAutoFit/>
          </a:bodyPr>
          <a:lstStyle/>
          <a:p>
            <a:pPr algn="l">
              <a:lnSpc>
                <a:spcPts val="3919"/>
              </a:lnSpc>
            </a:pPr>
            <a:r>
              <a:rPr lang="en-US" sz="2799">
                <a:solidFill>
                  <a:srgbClr val="F8F6F7"/>
                </a:solidFill>
                <a:latin typeface="Aileron"/>
                <a:ea typeface="Aileron"/>
                <a:cs typeface="Aileron"/>
                <a:sym typeface="Aileron"/>
              </a:rPr>
              <a:t>Integration with LMS platforms</a:t>
            </a:r>
          </a:p>
          <a:p>
            <a:pPr marL="604519" lvl="1" indent="-302260" algn="l">
              <a:lnSpc>
                <a:spcPts val="3919"/>
              </a:lnSpc>
              <a:buFont typeface="Arial"/>
              <a:buChar char="•"/>
            </a:pPr>
            <a:r>
              <a:rPr lang="en-US" sz="2799">
                <a:solidFill>
                  <a:srgbClr val="F8F6F7"/>
                </a:solidFill>
                <a:latin typeface="Aileron"/>
                <a:ea typeface="Aileron"/>
                <a:cs typeface="Aileron"/>
                <a:sym typeface="Aileron"/>
              </a:rPr>
              <a:t> Connect the system with platforms like Moodle to enable automatic data collection and real-time monitoring</a:t>
            </a:r>
          </a:p>
          <a:p>
            <a:pPr algn="l">
              <a:lnSpc>
                <a:spcPts val="3919"/>
              </a:lnSpc>
            </a:pPr>
            <a:r>
              <a:rPr lang="en-US" sz="2799">
                <a:solidFill>
                  <a:srgbClr val="F8F6F7"/>
                </a:solidFill>
                <a:latin typeface="Aileron"/>
                <a:ea typeface="Aileron"/>
                <a:cs typeface="Aileron"/>
                <a:sym typeface="Aileron"/>
              </a:rPr>
              <a:t>Incorporation of engagement features</a:t>
            </a:r>
          </a:p>
          <a:p>
            <a:pPr marL="604519" lvl="1" indent="-302260" algn="l">
              <a:lnSpc>
                <a:spcPts val="3919"/>
              </a:lnSpc>
              <a:buFont typeface="Arial"/>
              <a:buChar char="•"/>
            </a:pPr>
            <a:r>
              <a:rPr lang="en-US" sz="2799">
                <a:solidFill>
                  <a:srgbClr val="F8F6F7"/>
                </a:solidFill>
                <a:latin typeface="Aileron"/>
                <a:ea typeface="Aileron"/>
                <a:cs typeface="Aileron"/>
                <a:sym typeface="Aileron"/>
              </a:rPr>
              <a:t> Include metrics such as attendance, login activity, and time spent on learning materials to improve prediction accuracy</a:t>
            </a:r>
          </a:p>
          <a:p>
            <a:pPr algn="l">
              <a:lnSpc>
                <a:spcPts val="3919"/>
              </a:lnSpc>
            </a:pPr>
            <a:r>
              <a:rPr lang="en-US" sz="2799">
                <a:solidFill>
                  <a:srgbClr val="F8F6F7"/>
                </a:solidFill>
                <a:latin typeface="Aileron"/>
                <a:ea typeface="Aileron"/>
                <a:cs typeface="Aileron"/>
                <a:sym typeface="Aileron"/>
              </a:rPr>
              <a:t>Real-world dataset integration</a:t>
            </a:r>
          </a:p>
          <a:p>
            <a:pPr marL="604519" lvl="1" indent="-302260" algn="l">
              <a:lnSpc>
                <a:spcPts val="3919"/>
              </a:lnSpc>
              <a:buFont typeface="Arial"/>
              <a:buChar char="•"/>
            </a:pPr>
            <a:r>
              <a:rPr lang="en-US" sz="2799">
                <a:solidFill>
                  <a:srgbClr val="F8F6F7"/>
                </a:solidFill>
                <a:latin typeface="Aileron"/>
                <a:ea typeface="Aileron"/>
                <a:cs typeface="Aileron"/>
                <a:sym typeface="Aileron"/>
              </a:rPr>
              <a:t> Train and evaluate the system using institutional data to improve reliability and generalisation</a:t>
            </a:r>
          </a:p>
          <a:p>
            <a:pPr algn="l">
              <a:lnSpc>
                <a:spcPts val="3919"/>
              </a:lnSpc>
            </a:pPr>
            <a:r>
              <a:rPr lang="en-US" sz="2799">
                <a:solidFill>
                  <a:srgbClr val="F8F6F7"/>
                </a:solidFill>
                <a:latin typeface="Aileron"/>
                <a:ea typeface="Aileron"/>
                <a:cs typeface="Aileron"/>
                <a:sym typeface="Aileron"/>
              </a:rPr>
              <a:t>Scalable deployment</a:t>
            </a:r>
          </a:p>
          <a:p>
            <a:pPr marL="604519" lvl="1" indent="-302260" algn="l">
              <a:lnSpc>
                <a:spcPts val="3919"/>
              </a:lnSpc>
              <a:buFont typeface="Arial"/>
              <a:buChar char="•"/>
            </a:pPr>
            <a:r>
              <a:rPr lang="en-US" sz="2799">
                <a:solidFill>
                  <a:srgbClr val="F8F6F7"/>
                </a:solidFill>
                <a:latin typeface="Aileron"/>
                <a:ea typeface="Aileron"/>
                <a:cs typeface="Aileron"/>
                <a:sym typeface="Aileron"/>
              </a:rPr>
              <a:t> Deploy the system on cloud infrastructure with a more robust database to support larger user bases</a:t>
            </a:r>
          </a:p>
          <a:p>
            <a:pPr algn="l">
              <a:lnSpc>
                <a:spcPts val="3919"/>
              </a:lnSpc>
            </a:pPr>
            <a:endParaRPr lang="en-US" sz="2799">
              <a:solidFill>
                <a:srgbClr val="F8F6F7"/>
              </a:solidFill>
              <a:latin typeface="Aileron"/>
              <a:ea typeface="Aileron"/>
              <a:cs typeface="Aileron"/>
              <a:sym typeface="Aileron"/>
            </a:endParaRPr>
          </a:p>
        </p:txBody>
      </p:sp>
      <p:sp>
        <p:nvSpPr>
          <p:cNvPr id="8" name="Freeform 8"/>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B">
                <a:alpha val="100000"/>
              </a:srgbClr>
            </a:gs>
            <a:gs pos="100000">
              <a:srgbClr val="24347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grpSp>
        <p:nvGrpSpPr>
          <p:cNvPr id="3" name="Group 3"/>
          <p:cNvGrpSpPr/>
          <p:nvPr/>
        </p:nvGrpSpPr>
        <p:grpSpPr>
          <a:xfrm>
            <a:off x="6214558" y="1210686"/>
            <a:ext cx="2169792" cy="216979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3131">
                <a:alpha val="55686"/>
              </a:srgbClr>
            </a:solidFill>
          </p:spPr>
          <p:txBody>
            <a:bodyPr/>
            <a:lstStyle/>
            <a:p>
              <a:endParaRPr lang="LID4096"/>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7160699" y="9258300"/>
            <a:ext cx="459545" cy="463602"/>
          </a:xfrm>
          <a:custGeom>
            <a:avLst/>
            <a:gdLst/>
            <a:ahLst/>
            <a:cxnLst/>
            <a:rect l="l" t="t" r="r" b="b"/>
            <a:pathLst>
              <a:path w="459545" h="463602">
                <a:moveTo>
                  <a:pt x="0" y="0"/>
                </a:moveTo>
                <a:lnTo>
                  <a:pt x="459546" y="0"/>
                </a:lnTo>
                <a:lnTo>
                  <a:pt x="459546" y="463602"/>
                </a:lnTo>
                <a:lnTo>
                  <a:pt x="0" y="46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sp>
        <p:nvSpPr>
          <p:cNvPr id="7" name="TextBox 7"/>
          <p:cNvSpPr txBox="1"/>
          <p:nvPr/>
        </p:nvSpPr>
        <p:spPr>
          <a:xfrm>
            <a:off x="1028700" y="1585273"/>
            <a:ext cx="15162569" cy="1544445"/>
          </a:xfrm>
          <a:prstGeom prst="rect">
            <a:avLst/>
          </a:prstGeom>
        </p:spPr>
        <p:txBody>
          <a:bodyPr lIns="0" tIns="0" rIns="0" bIns="0" rtlCol="0" anchor="t">
            <a:spAutoFit/>
          </a:bodyPr>
          <a:lstStyle/>
          <a:p>
            <a:pPr marL="0" lvl="0" indent="0" algn="l">
              <a:lnSpc>
                <a:spcPts val="11999"/>
              </a:lnSpc>
            </a:pPr>
            <a:r>
              <a:rPr lang="en-US" sz="11008" b="1" spc="-715">
                <a:solidFill>
                  <a:srgbClr val="F8F6F7"/>
                </a:solidFill>
                <a:latin typeface="Open Sauce Bold"/>
                <a:ea typeface="Open Sauce Bold"/>
                <a:cs typeface="Open Sauce Bold"/>
                <a:sym typeface="Open Sauce Bold"/>
              </a:rPr>
              <a:t>Conclusion</a:t>
            </a:r>
          </a:p>
        </p:txBody>
      </p:sp>
      <p:sp>
        <p:nvSpPr>
          <p:cNvPr id="8" name="TextBox 8"/>
          <p:cNvSpPr txBox="1"/>
          <p:nvPr/>
        </p:nvSpPr>
        <p:spPr>
          <a:xfrm>
            <a:off x="1028700" y="3560471"/>
            <a:ext cx="15826592" cy="5434330"/>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F8F6F7"/>
                </a:solidFill>
                <a:latin typeface="Aileron"/>
                <a:ea typeface="Aileron"/>
                <a:cs typeface="Aileron"/>
                <a:sym typeface="Aileron"/>
              </a:rPr>
              <a:t>EduGuardian AI demonstrates the development of a complete academic risk prediction system, integrating machine learning, rule-based logic, and a web-based dashboard</a:t>
            </a:r>
          </a:p>
          <a:p>
            <a:pPr marL="604519" lvl="1" indent="-302260" algn="l">
              <a:lnSpc>
                <a:spcPts val="3919"/>
              </a:lnSpc>
              <a:buFont typeface="Arial"/>
              <a:buChar char="•"/>
            </a:pPr>
            <a:r>
              <a:rPr lang="en-US" sz="2799">
                <a:solidFill>
                  <a:srgbClr val="F8F6F7"/>
                </a:solidFill>
                <a:latin typeface="Aileron"/>
                <a:ea typeface="Aileron"/>
                <a:cs typeface="Aileron"/>
                <a:sym typeface="Aileron"/>
              </a:rPr>
              <a:t>The hybrid prediction approach improves both accuracy and interpretability, making the system suitable for real-world academic environments</a:t>
            </a:r>
          </a:p>
          <a:p>
            <a:pPr marL="604519" lvl="1" indent="-302260" algn="l">
              <a:lnSpc>
                <a:spcPts val="3919"/>
              </a:lnSpc>
              <a:buFont typeface="Arial"/>
              <a:buChar char="•"/>
            </a:pPr>
            <a:r>
              <a:rPr lang="en-US" sz="2799">
                <a:solidFill>
                  <a:srgbClr val="F8F6F7"/>
                </a:solidFill>
                <a:latin typeface="Aileron"/>
                <a:ea typeface="Aileron"/>
                <a:cs typeface="Aileron"/>
                <a:sym typeface="Aileron"/>
              </a:rPr>
              <a:t>Random Forest achieved the best performance in this implementation, highlighting the importance of data-driven model selection</a:t>
            </a:r>
          </a:p>
          <a:p>
            <a:pPr marL="604519" lvl="1" indent="-302260" algn="l">
              <a:lnSpc>
                <a:spcPts val="3919"/>
              </a:lnSpc>
              <a:buFont typeface="Arial"/>
              <a:buChar char="•"/>
            </a:pPr>
            <a:r>
              <a:rPr lang="en-US" sz="2799">
                <a:solidFill>
                  <a:srgbClr val="F8F6F7"/>
                </a:solidFill>
                <a:latin typeface="Aileron"/>
                <a:ea typeface="Aileron"/>
                <a:cs typeface="Aileron"/>
                <a:sym typeface="Aileron"/>
              </a:rPr>
              <a:t>The system enables early identification of at-risk students, supporting timely intervention and improved academic outcomes</a:t>
            </a:r>
          </a:p>
          <a:p>
            <a:pPr marL="604519" lvl="1" indent="-302260" algn="l">
              <a:lnSpc>
                <a:spcPts val="3919"/>
              </a:lnSpc>
              <a:buFont typeface="Arial"/>
              <a:buChar char="•"/>
            </a:pPr>
            <a:r>
              <a:rPr lang="en-US" sz="2799">
                <a:solidFill>
                  <a:srgbClr val="F8F6F7"/>
                </a:solidFill>
                <a:latin typeface="Aileron"/>
                <a:ea typeface="Aileron"/>
                <a:cs typeface="Aileron"/>
                <a:sym typeface="Aileron"/>
              </a:rPr>
              <a:t>Overall, the project highlights how AI can be effectively integrated into practical decision-support systems in education</a:t>
            </a:r>
          </a:p>
          <a:p>
            <a:pPr algn="l">
              <a:lnSpc>
                <a:spcPts val="3919"/>
              </a:lnSpc>
            </a:pPr>
            <a:endParaRPr lang="en-US" sz="2799">
              <a:solidFill>
                <a:srgbClr val="F8F6F7"/>
              </a:solidFill>
              <a:latin typeface="Aileron"/>
              <a:ea typeface="Aileron"/>
              <a:cs typeface="Aileron"/>
              <a:sym typeface="Ailero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6F7"/>
        </a:solidFill>
        <a:effectLst/>
      </p:bgPr>
    </p:bg>
    <p:spTree>
      <p:nvGrpSpPr>
        <p:cNvPr id="1" name=""/>
        <p:cNvGrpSpPr/>
        <p:nvPr/>
      </p:nvGrpSpPr>
      <p:grpSpPr>
        <a:xfrm>
          <a:off x="0" y="0"/>
          <a:ext cx="0" cy="0"/>
          <a:chOff x="0" y="0"/>
          <a:chExt cx="0" cy="0"/>
        </a:xfrm>
      </p:grpSpPr>
      <p:sp>
        <p:nvSpPr>
          <p:cNvPr id="2" name="Freeform 2"/>
          <p:cNvSpPr/>
          <p:nvPr/>
        </p:nvSpPr>
        <p:spPr>
          <a:xfrm rot="-557702" flipH="1" flipV="1">
            <a:off x="198760" y="-6024722"/>
            <a:ext cx="20100413" cy="17615271"/>
          </a:xfrm>
          <a:custGeom>
            <a:avLst/>
            <a:gdLst/>
            <a:ahLst/>
            <a:cxnLst/>
            <a:rect l="l" t="t" r="r" b="b"/>
            <a:pathLst>
              <a:path w="20100413" h="17615271">
                <a:moveTo>
                  <a:pt x="20100413" y="17615271"/>
                </a:moveTo>
                <a:lnTo>
                  <a:pt x="0" y="17615271"/>
                </a:lnTo>
                <a:lnTo>
                  <a:pt x="0" y="0"/>
                </a:lnTo>
                <a:lnTo>
                  <a:pt x="20100413" y="0"/>
                </a:lnTo>
                <a:lnTo>
                  <a:pt x="20100413" y="17615271"/>
                </a:lnTo>
                <a:close/>
              </a:path>
            </a:pathLst>
          </a:custGeom>
          <a:blipFill>
            <a:blip r:embed="rId2">
              <a:alphaModFix amt="3000"/>
              <a:extLst>
                <a:ext uri="{96DAC541-7B7A-43D3-8B79-37D633B846F1}">
                  <asvg:svgBlip xmlns:asvg="http://schemas.microsoft.com/office/drawing/2016/SVG/main" r:embed="rId3"/>
                </a:ext>
              </a:extLst>
            </a:blip>
            <a:stretch>
              <a:fillRect/>
            </a:stretch>
          </a:blipFill>
        </p:spPr>
        <p:txBody>
          <a:bodyPr/>
          <a:lstStyle/>
          <a:p>
            <a:endParaRPr lang="LID4096"/>
          </a:p>
        </p:txBody>
      </p:sp>
      <p:sp>
        <p:nvSpPr>
          <p:cNvPr id="3" name="TextBox 3"/>
          <p:cNvSpPr txBox="1"/>
          <p:nvPr/>
        </p:nvSpPr>
        <p:spPr>
          <a:xfrm>
            <a:off x="2777851" y="2816648"/>
            <a:ext cx="12732298" cy="3686175"/>
          </a:xfrm>
          <a:prstGeom prst="rect">
            <a:avLst/>
          </a:prstGeom>
        </p:spPr>
        <p:txBody>
          <a:bodyPr lIns="0" tIns="0" rIns="0" bIns="0" rtlCol="0" anchor="t">
            <a:spAutoFit/>
          </a:bodyPr>
          <a:lstStyle/>
          <a:p>
            <a:pPr marL="0" lvl="0" indent="0" algn="ctr">
              <a:lnSpc>
                <a:spcPts val="14504"/>
              </a:lnSpc>
            </a:pPr>
            <a:r>
              <a:rPr lang="en-US" sz="12086" b="1" spc="-785">
                <a:solidFill>
                  <a:srgbClr val="152047"/>
                </a:solidFill>
                <a:latin typeface="Open Sauce Bold"/>
                <a:ea typeface="Open Sauce Bold"/>
                <a:cs typeface="Open Sauce Bold"/>
                <a:sym typeface="Open Sauce Bold"/>
              </a:rPr>
              <a:t>Thank You For Listening!</a:t>
            </a:r>
          </a:p>
        </p:txBody>
      </p:sp>
      <p:sp>
        <p:nvSpPr>
          <p:cNvPr id="4" name="AutoShape 4"/>
          <p:cNvSpPr/>
          <p:nvPr/>
        </p:nvSpPr>
        <p:spPr>
          <a:xfrm>
            <a:off x="1028700" y="7895701"/>
            <a:ext cx="16230600" cy="0"/>
          </a:xfrm>
          <a:prstGeom prst="line">
            <a:avLst/>
          </a:prstGeom>
          <a:ln w="9525" cap="flat">
            <a:gradFill>
              <a:gsLst>
                <a:gs pos="0">
                  <a:srgbClr val="101B3B">
                    <a:alpha val="63000"/>
                  </a:srgbClr>
                </a:gs>
                <a:gs pos="100000">
                  <a:srgbClr val="243472">
                    <a:alpha val="63000"/>
                  </a:srgbClr>
                </a:gs>
              </a:gsLst>
              <a:lin ang="0"/>
            </a:gradFill>
            <a:prstDash val="solid"/>
            <a:headEnd type="none" w="sm" len="sm"/>
            <a:tailEnd type="none" w="sm" len="sm"/>
          </a:ln>
        </p:spPr>
        <p:txBody>
          <a:bodyPr/>
          <a:lstStyle/>
          <a:p>
            <a:endParaRPr lang="LID4096"/>
          </a:p>
        </p:txBody>
      </p:sp>
      <p:sp>
        <p:nvSpPr>
          <p:cNvPr id="5" name="Freeform 5"/>
          <p:cNvSpPr/>
          <p:nvPr/>
        </p:nvSpPr>
        <p:spPr>
          <a:xfrm>
            <a:off x="1127117" y="955852"/>
            <a:ext cx="476640" cy="404711"/>
          </a:xfrm>
          <a:custGeom>
            <a:avLst/>
            <a:gdLst/>
            <a:ahLst/>
            <a:cxnLst/>
            <a:rect l="l" t="t" r="r" b="b"/>
            <a:pathLst>
              <a:path w="476640" h="404711">
                <a:moveTo>
                  <a:pt x="0" y="0"/>
                </a:moveTo>
                <a:lnTo>
                  <a:pt x="476641" y="0"/>
                </a:lnTo>
                <a:lnTo>
                  <a:pt x="476641" y="404711"/>
                </a:lnTo>
                <a:lnTo>
                  <a:pt x="0" y="4047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LID4096"/>
          </a:p>
        </p:txBody>
      </p:sp>
      <p:grpSp>
        <p:nvGrpSpPr>
          <p:cNvPr id="6" name="Group 6"/>
          <p:cNvGrpSpPr/>
          <p:nvPr/>
        </p:nvGrpSpPr>
        <p:grpSpPr>
          <a:xfrm>
            <a:off x="15425252" y="1015922"/>
            <a:ext cx="1834048" cy="422137"/>
            <a:chOff x="0" y="0"/>
            <a:chExt cx="483041" cy="111180"/>
          </a:xfrm>
        </p:grpSpPr>
        <p:sp>
          <p:nvSpPr>
            <p:cNvPr id="7" name="Freeform 7"/>
            <p:cNvSpPr/>
            <p:nvPr/>
          </p:nvSpPr>
          <p:spPr>
            <a:xfrm>
              <a:off x="0" y="0"/>
              <a:ext cx="483041" cy="111180"/>
            </a:xfrm>
            <a:custGeom>
              <a:avLst/>
              <a:gdLst/>
              <a:ahLst/>
              <a:cxnLst/>
              <a:rect l="l" t="t" r="r" b="b"/>
              <a:pathLst>
                <a:path w="483041" h="111180">
                  <a:moveTo>
                    <a:pt x="55590" y="0"/>
                  </a:moveTo>
                  <a:lnTo>
                    <a:pt x="427451" y="0"/>
                  </a:lnTo>
                  <a:cubicBezTo>
                    <a:pt x="442195" y="0"/>
                    <a:pt x="456334" y="5857"/>
                    <a:pt x="466759" y="16282"/>
                  </a:cubicBezTo>
                  <a:cubicBezTo>
                    <a:pt x="477185" y="26707"/>
                    <a:pt x="483041" y="40847"/>
                    <a:pt x="483041" y="55590"/>
                  </a:cubicBezTo>
                  <a:lnTo>
                    <a:pt x="483041" y="55590"/>
                  </a:lnTo>
                  <a:cubicBezTo>
                    <a:pt x="483041" y="70333"/>
                    <a:pt x="477185" y="84473"/>
                    <a:pt x="466759" y="94898"/>
                  </a:cubicBezTo>
                  <a:cubicBezTo>
                    <a:pt x="456334" y="105323"/>
                    <a:pt x="442195" y="111180"/>
                    <a:pt x="427451" y="111180"/>
                  </a:cubicBezTo>
                  <a:lnTo>
                    <a:pt x="55590" y="111180"/>
                  </a:lnTo>
                  <a:cubicBezTo>
                    <a:pt x="40847" y="111180"/>
                    <a:pt x="26707" y="105323"/>
                    <a:pt x="16282" y="94898"/>
                  </a:cubicBezTo>
                  <a:cubicBezTo>
                    <a:pt x="5857" y="84473"/>
                    <a:pt x="0" y="70333"/>
                    <a:pt x="0" y="55590"/>
                  </a:cubicBezTo>
                  <a:lnTo>
                    <a:pt x="0" y="55590"/>
                  </a:lnTo>
                  <a:cubicBezTo>
                    <a:pt x="0" y="40847"/>
                    <a:pt x="5857" y="26707"/>
                    <a:pt x="16282" y="16282"/>
                  </a:cubicBezTo>
                  <a:cubicBezTo>
                    <a:pt x="26707" y="5857"/>
                    <a:pt x="40847" y="0"/>
                    <a:pt x="55590" y="0"/>
                  </a:cubicBezTo>
                  <a:close/>
                </a:path>
              </a:pathLst>
            </a:custGeom>
            <a:ln w="9525" cap="rnd">
              <a:gradFill>
                <a:gsLst>
                  <a:gs pos="0">
                    <a:srgbClr val="101B3B">
                      <a:alpha val="100000"/>
                    </a:srgbClr>
                  </a:gs>
                  <a:gs pos="100000">
                    <a:srgbClr val="243472">
                      <a:alpha val="100000"/>
                    </a:srgbClr>
                  </a:gs>
                </a:gsLst>
                <a:lin ang="0"/>
              </a:gradFill>
              <a:prstDash val="solid"/>
              <a:round/>
            </a:ln>
          </p:spPr>
          <p:txBody>
            <a:bodyPr/>
            <a:lstStyle/>
            <a:p>
              <a:endParaRPr lang="LID4096"/>
            </a:p>
          </p:txBody>
        </p:sp>
        <p:sp>
          <p:nvSpPr>
            <p:cNvPr id="8" name="TextBox 8"/>
            <p:cNvSpPr txBox="1"/>
            <p:nvPr/>
          </p:nvSpPr>
          <p:spPr>
            <a:xfrm>
              <a:off x="0" y="38100"/>
              <a:ext cx="483041" cy="73080"/>
            </a:xfrm>
            <a:prstGeom prst="rect">
              <a:avLst/>
            </a:prstGeom>
          </p:spPr>
          <p:txBody>
            <a:bodyPr lIns="50800" tIns="50800" rIns="50800" bIns="50800" rtlCol="0" anchor="ctr"/>
            <a:lstStyle/>
            <a:p>
              <a:pPr algn="ctr">
                <a:lnSpc>
                  <a:spcPts val="1260"/>
                </a:lnSpc>
              </a:pPr>
              <a:endParaRPr/>
            </a:p>
          </p:txBody>
        </p:sp>
      </p:grpSp>
      <p:sp>
        <p:nvSpPr>
          <p:cNvPr id="9" name="TextBox 9"/>
          <p:cNvSpPr txBox="1"/>
          <p:nvPr/>
        </p:nvSpPr>
        <p:spPr>
          <a:xfrm>
            <a:off x="1741505" y="908227"/>
            <a:ext cx="3006281" cy="446731"/>
          </a:xfrm>
          <a:prstGeom prst="rect">
            <a:avLst/>
          </a:prstGeom>
        </p:spPr>
        <p:txBody>
          <a:bodyPr lIns="0" tIns="0" rIns="0" bIns="0" rtlCol="0" anchor="t">
            <a:spAutoFit/>
          </a:bodyPr>
          <a:lstStyle/>
          <a:p>
            <a:pPr marL="0" lvl="0" indent="0" algn="l">
              <a:lnSpc>
                <a:spcPts val="3727"/>
              </a:lnSpc>
              <a:spcBef>
                <a:spcPct val="0"/>
              </a:spcBef>
            </a:pPr>
            <a:r>
              <a:rPr lang="en-US" sz="2662" b="1" spc="-15">
                <a:solidFill>
                  <a:srgbClr val="152047"/>
                </a:solidFill>
                <a:latin typeface="Open Sauce Bold"/>
                <a:ea typeface="Open Sauce Bold"/>
                <a:cs typeface="Open Sauce Bold"/>
                <a:sym typeface="Open Sauce Bold"/>
              </a:rPr>
              <a:t>EduGuardianAI</a:t>
            </a:r>
          </a:p>
        </p:txBody>
      </p:sp>
      <p:sp>
        <p:nvSpPr>
          <p:cNvPr id="10" name="TextBox 10"/>
          <p:cNvSpPr txBox="1"/>
          <p:nvPr/>
        </p:nvSpPr>
        <p:spPr>
          <a:xfrm>
            <a:off x="12988993" y="8929278"/>
            <a:ext cx="4270307" cy="203835"/>
          </a:xfrm>
          <a:prstGeom prst="rect">
            <a:avLst/>
          </a:prstGeom>
        </p:spPr>
        <p:txBody>
          <a:bodyPr lIns="0" tIns="0" rIns="0" bIns="0" rtlCol="0" anchor="t">
            <a:spAutoFit/>
          </a:bodyPr>
          <a:lstStyle/>
          <a:p>
            <a:pPr marL="0" lvl="0" indent="0" algn="r">
              <a:lnSpc>
                <a:spcPts val="1439"/>
              </a:lnSpc>
              <a:spcBef>
                <a:spcPct val="0"/>
              </a:spcBef>
            </a:pPr>
            <a:r>
              <a:rPr lang="en-US" sz="1599" b="1">
                <a:solidFill>
                  <a:srgbClr val="152047"/>
                </a:solidFill>
                <a:latin typeface="Open Sauce Bold"/>
                <a:ea typeface="Open Sauce Bold"/>
                <a:cs typeface="Open Sauce Bold"/>
                <a:sym typeface="Open Sauce Bold"/>
              </a:rPr>
              <a:t>ROHIT KUMAR - 35363998</a:t>
            </a:r>
          </a:p>
        </p:txBody>
      </p:sp>
      <p:sp>
        <p:nvSpPr>
          <p:cNvPr id="11" name="TextBox 11"/>
          <p:cNvSpPr txBox="1"/>
          <p:nvPr/>
        </p:nvSpPr>
        <p:spPr>
          <a:xfrm>
            <a:off x="7008846" y="8929278"/>
            <a:ext cx="4270307" cy="203835"/>
          </a:xfrm>
          <a:prstGeom prst="rect">
            <a:avLst/>
          </a:prstGeom>
        </p:spPr>
        <p:txBody>
          <a:bodyPr lIns="0" tIns="0" rIns="0" bIns="0" rtlCol="0" anchor="t">
            <a:spAutoFit/>
          </a:bodyPr>
          <a:lstStyle/>
          <a:p>
            <a:pPr marL="0" lvl="0" indent="0" algn="ctr">
              <a:lnSpc>
                <a:spcPts val="1439"/>
              </a:lnSpc>
              <a:spcBef>
                <a:spcPct val="0"/>
              </a:spcBef>
            </a:pPr>
            <a:r>
              <a:rPr lang="en-US" sz="1599" b="1">
                <a:solidFill>
                  <a:srgbClr val="152047"/>
                </a:solidFill>
                <a:latin typeface="Open Sauce Bold"/>
                <a:ea typeface="Open Sauce Bold"/>
                <a:cs typeface="Open Sauce Bold"/>
                <a:sym typeface="Open Sauce Bold"/>
              </a:rPr>
              <a:t>MOHAMED SINAN - 35078074</a:t>
            </a:r>
          </a:p>
        </p:txBody>
      </p:sp>
      <p:sp>
        <p:nvSpPr>
          <p:cNvPr id="12" name="TextBox 12"/>
          <p:cNvSpPr txBox="1"/>
          <p:nvPr/>
        </p:nvSpPr>
        <p:spPr>
          <a:xfrm>
            <a:off x="15425252" y="1161727"/>
            <a:ext cx="1834048" cy="167640"/>
          </a:xfrm>
          <a:prstGeom prst="rect">
            <a:avLst/>
          </a:prstGeom>
        </p:spPr>
        <p:txBody>
          <a:bodyPr lIns="0" tIns="0" rIns="0" bIns="0" rtlCol="0" anchor="t">
            <a:spAutoFit/>
          </a:bodyPr>
          <a:lstStyle/>
          <a:p>
            <a:pPr marL="0" lvl="0" indent="0" algn="ctr">
              <a:lnSpc>
                <a:spcPts val="1260"/>
              </a:lnSpc>
              <a:spcBef>
                <a:spcPct val="0"/>
              </a:spcBef>
            </a:pPr>
            <a:r>
              <a:rPr lang="en-US" sz="1400">
                <a:solidFill>
                  <a:srgbClr val="152047"/>
                </a:solidFill>
                <a:latin typeface="Aileron"/>
                <a:ea typeface="Aileron"/>
                <a:cs typeface="Aileron"/>
                <a:sym typeface="Aileron"/>
              </a:rPr>
              <a:t>ICT304</a:t>
            </a:r>
          </a:p>
        </p:txBody>
      </p:sp>
      <p:sp>
        <p:nvSpPr>
          <p:cNvPr id="13" name="TextBox 13"/>
          <p:cNvSpPr txBox="1"/>
          <p:nvPr/>
        </p:nvSpPr>
        <p:spPr>
          <a:xfrm>
            <a:off x="1024039" y="8929278"/>
            <a:ext cx="4270307" cy="203835"/>
          </a:xfrm>
          <a:prstGeom prst="rect">
            <a:avLst/>
          </a:prstGeom>
        </p:spPr>
        <p:txBody>
          <a:bodyPr lIns="0" tIns="0" rIns="0" bIns="0" rtlCol="0" anchor="t">
            <a:spAutoFit/>
          </a:bodyPr>
          <a:lstStyle/>
          <a:p>
            <a:pPr marL="0" lvl="0" indent="0" algn="l">
              <a:lnSpc>
                <a:spcPts val="1439"/>
              </a:lnSpc>
              <a:spcBef>
                <a:spcPct val="0"/>
              </a:spcBef>
            </a:pPr>
            <a:r>
              <a:rPr lang="en-US" sz="1599" b="1">
                <a:solidFill>
                  <a:srgbClr val="152047"/>
                </a:solidFill>
                <a:latin typeface="Open Sauce Bold"/>
                <a:ea typeface="Open Sauce Bold"/>
                <a:cs typeface="Open Sauce Bold"/>
                <a:sym typeface="Open Sauce Bold"/>
              </a:rPr>
              <a:t>IZAAN SHUMAIZ - 34984006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1317</Words>
  <Application>Microsoft Office PowerPoint</Application>
  <PresentationFormat>Custom</PresentationFormat>
  <Paragraphs>219</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Aileron Bold</vt:lpstr>
      <vt:lpstr>Aileron</vt:lpstr>
      <vt:lpstr>Calibri</vt:lpstr>
      <vt:lpstr>Open Sauce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Business Pitch Deck Presentation</dc:title>
  <cp:lastModifiedBy>Izaan Shumaiz</cp:lastModifiedBy>
  <cp:revision>1</cp:revision>
  <dcterms:created xsi:type="dcterms:W3CDTF">2006-08-16T00:00:00Z</dcterms:created>
  <dcterms:modified xsi:type="dcterms:W3CDTF">2026-04-03T12:51:20Z</dcterms:modified>
  <dc:identifier>DAHFxe7KHTk</dc:identifier>
</cp:coreProperties>
</file>